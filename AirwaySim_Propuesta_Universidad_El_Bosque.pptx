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584"/>
    <p:restoredTop sz="94706"/>
  </p:normalViewPr>
  <p:slideViewPr>
    <p:cSldViewPr snapToGrid="0" snapToObjects="1">
      <p:cViewPr varScale="1">
        <p:scale>
          <a:sx n="156" d="100"/>
          <a:sy n="156" d="100"/>
        </p:scale>
        <p:origin x="368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658368"/>
            <a:ext cx="8229600" cy="11695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CA" sz="7600" b="1" spc="-320" dirty="0" err="1">
                <a:solidFill>
                  <a:srgbClr val="DCE6EC"/>
                </a:solidFill>
                <a:latin typeface="Helvetica Neue"/>
              </a:rPr>
              <a:t>Aetheris</a:t>
            </a:r>
            <a:endParaRPr sz="7600" b="1" spc="-320" dirty="0">
              <a:solidFill>
                <a:srgbClr val="DCE6EC"/>
              </a:solidFill>
              <a:latin typeface="Helvetica Neue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298731" y="973836"/>
            <a:ext cx="2240280" cy="301752"/>
          </a:xfrm>
          <a:prstGeom prst="rect">
            <a:avLst/>
          </a:prstGeom>
          <a:noFill/>
          <a:ln w="9525">
            <a:solidFill>
              <a:srgbClr val="1E4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16590" y="1057952"/>
            <a:ext cx="2103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120" dirty="0">
                <a:solidFill>
                  <a:srgbClr val="4FD6E8"/>
                </a:solidFill>
                <a:latin typeface="Menlo"/>
              </a:rPr>
              <a:t>SIMULACIÓN PERIOPERATORIA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20240"/>
            <a:ext cx="7498079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900" b="0" spc="-30">
                <a:solidFill>
                  <a:srgbClr val="A8BAC6"/>
                </a:solidFill>
                <a:latin typeface="Helvetica Neue"/>
              </a:rPr>
              <a:t>Simulador de fisiología y farmacología de lazo cerrado, construido sobre la referencia canónica de la especialidad y </a:t>
            </a:r>
            <a:r>
              <a:rPr sz="1900" b="1" spc="-30">
                <a:solidFill>
                  <a:srgbClr val="DCE6EC"/>
                </a:solidFill>
                <a:latin typeface="Helvetica Neue"/>
              </a:rPr>
              <a:t>auditado como software de misión crítica</a:t>
            </a:r>
            <a:r>
              <a:rPr sz="1900" b="0" spc="-30">
                <a:solidFill>
                  <a:srgbClr val="A8BAC6"/>
                </a:solidFill>
                <a:latin typeface="Helvetica Neue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3145536"/>
            <a:ext cx="11057839" cy="1133856"/>
          </a:xfrm>
          <a:prstGeom prst="rect">
            <a:avLst/>
          </a:prstGeom>
          <a:solidFill>
            <a:srgbClr val="0B1016"/>
          </a:solidFill>
          <a:ln w="9525">
            <a:solidFill>
              <a:srgbClr val="1F2C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3264408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120">
                <a:solidFill>
                  <a:srgbClr val="35DE94"/>
                </a:solidFill>
                <a:latin typeface="Menlo"/>
              </a:rPr>
              <a:t>ECG II        </a:t>
            </a:r>
            <a:r>
              <a:rPr sz="800" b="0" spc="120">
                <a:solidFill>
                  <a:srgbClr val="4FD6E8"/>
                </a:solidFill>
                <a:latin typeface="Menlo"/>
              </a:rPr>
              <a:t>SpO₂ PLET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84287" y="3264408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spc="120">
                <a:solidFill>
                  <a:srgbClr val="35DE94"/>
                </a:solidFill>
                <a:latin typeface="Menlo"/>
              </a:rPr>
              <a:t>FC 72        </a:t>
            </a:r>
            <a:r>
              <a:rPr sz="800" b="0" spc="120">
                <a:solidFill>
                  <a:srgbClr val="4FD6E8"/>
                </a:solidFill>
                <a:latin typeface="Menlo"/>
              </a:rPr>
              <a:t>SpO₂ 98%</a:t>
            </a:r>
          </a:p>
        </p:txBody>
      </p:sp>
      <p:sp>
        <p:nvSpPr>
          <p:cNvPr id="9" name="Freeform 8"/>
          <p:cNvSpPr/>
          <p:nvPr/>
        </p:nvSpPr>
        <p:spPr>
          <a:xfrm>
            <a:off x="731520" y="3435817"/>
            <a:ext cx="10728655" cy="328657"/>
          </a:xfrm>
          <a:custGeom>
            <a:avLst/>
            <a:gdLst/>
            <a:ahLst/>
            <a:cxnLst/>
            <a:rect l="l" t="t" r="r" b="b"/>
            <a:pathLst>
              <a:path w="10728655" h="328657">
                <a:moveTo>
                  <a:pt x="0" y="258359"/>
                </a:moveTo>
                <a:lnTo>
                  <a:pt x="17911" y="258359"/>
                </a:lnTo>
                <a:lnTo>
                  <a:pt x="35822" y="258359"/>
                </a:lnTo>
                <a:lnTo>
                  <a:pt x="53733" y="258359"/>
                </a:lnTo>
                <a:lnTo>
                  <a:pt x="71644" y="258351"/>
                </a:lnTo>
                <a:lnTo>
                  <a:pt x="89555" y="258254"/>
                </a:lnTo>
                <a:lnTo>
                  <a:pt x="107466" y="257507"/>
                </a:lnTo>
                <a:lnTo>
                  <a:pt x="125377" y="254034"/>
                </a:lnTo>
                <a:lnTo>
                  <a:pt x="143288" y="244585"/>
                </a:lnTo>
                <a:lnTo>
                  <a:pt x="161198" y="230846"/>
                </a:lnTo>
                <a:lnTo>
                  <a:pt x="179109" y="223888"/>
                </a:lnTo>
                <a:lnTo>
                  <a:pt x="197020" y="231270"/>
                </a:lnTo>
                <a:lnTo>
                  <a:pt x="214931" y="245006"/>
                </a:lnTo>
                <a:lnTo>
                  <a:pt x="232842" y="254230"/>
                </a:lnTo>
                <a:lnTo>
                  <a:pt x="250753" y="257556"/>
                </a:lnTo>
                <a:lnTo>
                  <a:pt x="268664" y="259051"/>
                </a:lnTo>
                <a:lnTo>
                  <a:pt x="286575" y="278687"/>
                </a:lnTo>
                <a:lnTo>
                  <a:pt x="304486" y="98403"/>
                </a:lnTo>
                <a:lnTo>
                  <a:pt x="322397" y="270617"/>
                </a:lnTo>
                <a:lnTo>
                  <a:pt x="340308" y="311440"/>
                </a:lnTo>
                <a:lnTo>
                  <a:pt x="358219" y="256548"/>
                </a:lnTo>
                <a:lnTo>
                  <a:pt x="376130" y="254346"/>
                </a:lnTo>
                <a:lnTo>
                  <a:pt x="394041" y="250298"/>
                </a:lnTo>
                <a:lnTo>
                  <a:pt x="411952" y="243678"/>
                </a:lnTo>
                <a:lnTo>
                  <a:pt x="429863" y="234116"/>
                </a:lnTo>
                <a:lnTo>
                  <a:pt x="447774" y="222063"/>
                </a:lnTo>
                <a:lnTo>
                  <a:pt x="465685" y="209089"/>
                </a:lnTo>
                <a:lnTo>
                  <a:pt x="483595" y="197721"/>
                </a:lnTo>
                <a:lnTo>
                  <a:pt x="501506" y="190695"/>
                </a:lnTo>
                <a:lnTo>
                  <a:pt x="519417" y="189902"/>
                </a:lnTo>
                <a:lnTo>
                  <a:pt x="537328" y="195564"/>
                </a:lnTo>
                <a:lnTo>
                  <a:pt x="555239" y="206134"/>
                </a:lnTo>
                <a:lnTo>
                  <a:pt x="573150" y="218979"/>
                </a:lnTo>
                <a:lnTo>
                  <a:pt x="591061" y="231436"/>
                </a:lnTo>
                <a:lnTo>
                  <a:pt x="608972" y="241671"/>
                </a:lnTo>
                <a:lnTo>
                  <a:pt x="626883" y="248980"/>
                </a:lnTo>
                <a:lnTo>
                  <a:pt x="644794" y="253580"/>
                </a:lnTo>
                <a:lnTo>
                  <a:pt x="662705" y="256151"/>
                </a:lnTo>
                <a:lnTo>
                  <a:pt x="680616" y="257434"/>
                </a:lnTo>
                <a:lnTo>
                  <a:pt x="698527" y="258008"/>
                </a:lnTo>
                <a:lnTo>
                  <a:pt x="716438" y="258238"/>
                </a:lnTo>
                <a:lnTo>
                  <a:pt x="734349" y="258321"/>
                </a:lnTo>
                <a:lnTo>
                  <a:pt x="752260" y="258348"/>
                </a:lnTo>
                <a:lnTo>
                  <a:pt x="770171" y="258356"/>
                </a:lnTo>
                <a:lnTo>
                  <a:pt x="788082" y="258358"/>
                </a:lnTo>
                <a:lnTo>
                  <a:pt x="805992" y="258359"/>
                </a:lnTo>
                <a:lnTo>
                  <a:pt x="823903" y="258359"/>
                </a:lnTo>
                <a:lnTo>
                  <a:pt x="841814" y="258359"/>
                </a:lnTo>
                <a:lnTo>
                  <a:pt x="859725" y="258359"/>
                </a:lnTo>
                <a:lnTo>
                  <a:pt x="877636" y="258359"/>
                </a:lnTo>
                <a:lnTo>
                  <a:pt x="895547" y="258359"/>
                </a:lnTo>
                <a:lnTo>
                  <a:pt x="913458" y="258359"/>
                </a:lnTo>
                <a:lnTo>
                  <a:pt x="931369" y="258359"/>
                </a:lnTo>
                <a:lnTo>
                  <a:pt x="949280" y="258359"/>
                </a:lnTo>
                <a:lnTo>
                  <a:pt x="967191" y="258359"/>
                </a:lnTo>
                <a:lnTo>
                  <a:pt x="985102" y="258359"/>
                </a:lnTo>
                <a:lnTo>
                  <a:pt x="1003013" y="258359"/>
                </a:lnTo>
                <a:lnTo>
                  <a:pt x="1020924" y="258359"/>
                </a:lnTo>
                <a:lnTo>
                  <a:pt x="1038835" y="258359"/>
                </a:lnTo>
                <a:lnTo>
                  <a:pt x="1056746" y="258359"/>
                </a:lnTo>
                <a:lnTo>
                  <a:pt x="1074657" y="258359"/>
                </a:lnTo>
                <a:lnTo>
                  <a:pt x="1092568" y="258359"/>
                </a:lnTo>
                <a:lnTo>
                  <a:pt x="1110478" y="258359"/>
                </a:lnTo>
                <a:lnTo>
                  <a:pt x="1128389" y="258359"/>
                </a:lnTo>
                <a:lnTo>
                  <a:pt x="1146300" y="258359"/>
                </a:lnTo>
                <a:lnTo>
                  <a:pt x="1164211" y="258359"/>
                </a:lnTo>
                <a:lnTo>
                  <a:pt x="1182122" y="258359"/>
                </a:lnTo>
                <a:lnTo>
                  <a:pt x="1200033" y="258359"/>
                </a:lnTo>
                <a:lnTo>
                  <a:pt x="1217944" y="258359"/>
                </a:lnTo>
                <a:lnTo>
                  <a:pt x="1235855" y="258359"/>
                </a:lnTo>
                <a:lnTo>
                  <a:pt x="1253766" y="258357"/>
                </a:lnTo>
                <a:lnTo>
                  <a:pt x="1271677" y="258332"/>
                </a:lnTo>
                <a:lnTo>
                  <a:pt x="1289588" y="258077"/>
                </a:lnTo>
                <a:lnTo>
                  <a:pt x="1307499" y="256501"/>
                </a:lnTo>
                <a:lnTo>
                  <a:pt x="1325410" y="250692"/>
                </a:lnTo>
                <a:lnTo>
                  <a:pt x="1343321" y="238515"/>
                </a:lnTo>
                <a:lnTo>
                  <a:pt x="1361232" y="226144"/>
                </a:lnTo>
                <a:lnTo>
                  <a:pt x="1379143" y="225554"/>
                </a:lnTo>
                <a:lnTo>
                  <a:pt x="1397054" y="237406"/>
                </a:lnTo>
                <a:lnTo>
                  <a:pt x="1414965" y="249964"/>
                </a:lnTo>
                <a:lnTo>
                  <a:pt x="1432875" y="256249"/>
                </a:lnTo>
                <a:lnTo>
                  <a:pt x="1450786" y="258023"/>
                </a:lnTo>
                <a:lnTo>
                  <a:pt x="1468697" y="273275"/>
                </a:lnTo>
                <a:lnTo>
                  <a:pt x="1486608" y="264506"/>
                </a:lnTo>
                <a:lnTo>
                  <a:pt x="1504519" y="84473"/>
                </a:lnTo>
                <a:lnTo>
                  <a:pt x="1522430" y="304611"/>
                </a:lnTo>
                <a:lnTo>
                  <a:pt x="1540341" y="276914"/>
                </a:lnTo>
                <a:lnTo>
                  <a:pt x="1558252" y="255748"/>
                </a:lnTo>
                <a:lnTo>
                  <a:pt x="1576163" y="252821"/>
                </a:lnTo>
                <a:lnTo>
                  <a:pt x="1594074" y="247709"/>
                </a:lnTo>
                <a:lnTo>
                  <a:pt x="1611985" y="239788"/>
                </a:lnTo>
                <a:lnTo>
                  <a:pt x="1629896" y="229000"/>
                </a:lnTo>
                <a:lnTo>
                  <a:pt x="1647807" y="216277"/>
                </a:lnTo>
                <a:lnTo>
                  <a:pt x="1665718" y="203669"/>
                </a:lnTo>
                <a:lnTo>
                  <a:pt x="1683629" y="193918"/>
                </a:lnTo>
                <a:lnTo>
                  <a:pt x="1701540" y="189516"/>
                </a:lnTo>
                <a:lnTo>
                  <a:pt x="1719451" y="191677"/>
                </a:lnTo>
                <a:lnTo>
                  <a:pt x="1737361" y="199799"/>
                </a:lnTo>
                <a:lnTo>
                  <a:pt x="1755272" y="211732"/>
                </a:lnTo>
                <a:lnTo>
                  <a:pt x="1773183" y="224698"/>
                </a:lnTo>
                <a:lnTo>
                  <a:pt x="1791094" y="236327"/>
                </a:lnTo>
                <a:lnTo>
                  <a:pt x="1809005" y="245284"/>
                </a:lnTo>
                <a:lnTo>
                  <a:pt x="1826916" y="251324"/>
                </a:lnTo>
                <a:lnTo>
                  <a:pt x="1844827" y="254927"/>
                </a:lnTo>
                <a:lnTo>
                  <a:pt x="1862738" y="256841"/>
                </a:lnTo>
                <a:lnTo>
                  <a:pt x="1880649" y="257750"/>
                </a:lnTo>
                <a:lnTo>
                  <a:pt x="1898560" y="258138"/>
                </a:lnTo>
                <a:lnTo>
                  <a:pt x="1916471" y="258286"/>
                </a:lnTo>
                <a:lnTo>
                  <a:pt x="1934382" y="258337"/>
                </a:lnTo>
                <a:lnTo>
                  <a:pt x="1952293" y="258353"/>
                </a:lnTo>
                <a:lnTo>
                  <a:pt x="1970204" y="258358"/>
                </a:lnTo>
                <a:lnTo>
                  <a:pt x="1988115" y="258359"/>
                </a:lnTo>
                <a:lnTo>
                  <a:pt x="2006026" y="258359"/>
                </a:lnTo>
                <a:lnTo>
                  <a:pt x="2023937" y="258359"/>
                </a:lnTo>
                <a:lnTo>
                  <a:pt x="2041848" y="258359"/>
                </a:lnTo>
                <a:lnTo>
                  <a:pt x="2059758" y="258359"/>
                </a:lnTo>
                <a:lnTo>
                  <a:pt x="2077669" y="258359"/>
                </a:lnTo>
                <a:lnTo>
                  <a:pt x="2095580" y="258359"/>
                </a:lnTo>
                <a:lnTo>
                  <a:pt x="2113491" y="258359"/>
                </a:lnTo>
                <a:lnTo>
                  <a:pt x="2131402" y="258359"/>
                </a:lnTo>
                <a:lnTo>
                  <a:pt x="2149313" y="258359"/>
                </a:lnTo>
                <a:lnTo>
                  <a:pt x="2167224" y="258359"/>
                </a:lnTo>
                <a:lnTo>
                  <a:pt x="2185135" y="258359"/>
                </a:lnTo>
                <a:lnTo>
                  <a:pt x="2203046" y="258359"/>
                </a:lnTo>
                <a:lnTo>
                  <a:pt x="2220957" y="258359"/>
                </a:lnTo>
                <a:lnTo>
                  <a:pt x="2238868" y="258359"/>
                </a:lnTo>
                <a:lnTo>
                  <a:pt x="2256779" y="258359"/>
                </a:lnTo>
                <a:lnTo>
                  <a:pt x="2274690" y="258359"/>
                </a:lnTo>
                <a:lnTo>
                  <a:pt x="2292601" y="258359"/>
                </a:lnTo>
                <a:lnTo>
                  <a:pt x="2310512" y="258359"/>
                </a:lnTo>
                <a:lnTo>
                  <a:pt x="2328423" y="258359"/>
                </a:lnTo>
                <a:lnTo>
                  <a:pt x="2346334" y="258359"/>
                </a:lnTo>
                <a:lnTo>
                  <a:pt x="2364245" y="258359"/>
                </a:lnTo>
                <a:lnTo>
                  <a:pt x="2382155" y="258359"/>
                </a:lnTo>
                <a:lnTo>
                  <a:pt x="2400066" y="258359"/>
                </a:lnTo>
                <a:lnTo>
                  <a:pt x="2417977" y="258359"/>
                </a:lnTo>
                <a:lnTo>
                  <a:pt x="2435888" y="258359"/>
                </a:lnTo>
                <a:lnTo>
                  <a:pt x="2453799" y="258353"/>
                </a:lnTo>
                <a:lnTo>
                  <a:pt x="2471710" y="258278"/>
                </a:lnTo>
                <a:lnTo>
                  <a:pt x="2489621" y="257668"/>
                </a:lnTo>
                <a:lnTo>
                  <a:pt x="2507532" y="254664"/>
                </a:lnTo>
                <a:lnTo>
                  <a:pt x="2525443" y="245966"/>
                </a:lnTo>
                <a:lnTo>
                  <a:pt x="2543354" y="232288"/>
                </a:lnTo>
                <a:lnTo>
                  <a:pt x="2561265" y="223958"/>
                </a:lnTo>
                <a:lnTo>
                  <a:pt x="2579176" y="229887"/>
                </a:lnTo>
                <a:lnTo>
                  <a:pt x="2597087" y="243578"/>
                </a:lnTo>
                <a:lnTo>
                  <a:pt x="2614998" y="253546"/>
                </a:lnTo>
                <a:lnTo>
                  <a:pt x="2632909" y="257374"/>
                </a:lnTo>
                <a:lnTo>
                  <a:pt x="2650820" y="258226"/>
                </a:lnTo>
                <a:lnTo>
                  <a:pt x="2668731" y="282230"/>
                </a:lnTo>
                <a:lnTo>
                  <a:pt x="2686641" y="147603"/>
                </a:lnTo>
                <a:lnTo>
                  <a:pt x="2704552" y="262110"/>
                </a:lnTo>
                <a:lnTo>
                  <a:pt x="2722463" y="320052"/>
                </a:lnTo>
                <a:lnTo>
                  <a:pt x="2740374" y="256711"/>
                </a:lnTo>
                <a:lnTo>
                  <a:pt x="2758285" y="254668"/>
                </a:lnTo>
                <a:lnTo>
                  <a:pt x="2776196" y="250863"/>
                </a:lnTo>
                <a:lnTo>
                  <a:pt x="2794107" y="244557"/>
                </a:lnTo>
                <a:lnTo>
                  <a:pt x="2812018" y="235319"/>
                </a:lnTo>
                <a:lnTo>
                  <a:pt x="2829929" y="223486"/>
                </a:lnTo>
                <a:lnTo>
                  <a:pt x="2847840" y="210503"/>
                </a:lnTo>
                <a:lnTo>
                  <a:pt x="2865751" y="198816"/>
                </a:lnTo>
                <a:lnTo>
                  <a:pt x="2883662" y="191190"/>
                </a:lnTo>
                <a:lnTo>
                  <a:pt x="2901573" y="189659"/>
                </a:lnTo>
                <a:lnTo>
                  <a:pt x="2919484" y="194652"/>
                </a:lnTo>
                <a:lnTo>
                  <a:pt x="2937395" y="204795"/>
                </a:lnTo>
                <a:lnTo>
                  <a:pt x="2955306" y="217527"/>
                </a:lnTo>
                <a:lnTo>
                  <a:pt x="2973217" y="230138"/>
                </a:lnTo>
                <a:lnTo>
                  <a:pt x="2991128" y="240674"/>
                </a:lnTo>
                <a:lnTo>
                  <a:pt x="3009038" y="248311"/>
                </a:lnTo>
                <a:lnTo>
                  <a:pt x="3026949" y="253183"/>
                </a:lnTo>
                <a:lnTo>
                  <a:pt x="3044860" y="255942"/>
                </a:lnTo>
                <a:lnTo>
                  <a:pt x="3062771" y="257335"/>
                </a:lnTo>
                <a:lnTo>
                  <a:pt x="3080682" y="257966"/>
                </a:lnTo>
                <a:lnTo>
                  <a:pt x="3098593" y="258222"/>
                </a:lnTo>
                <a:lnTo>
                  <a:pt x="3116504" y="258316"/>
                </a:lnTo>
                <a:lnTo>
                  <a:pt x="3134415" y="258347"/>
                </a:lnTo>
                <a:lnTo>
                  <a:pt x="3152326" y="258356"/>
                </a:lnTo>
                <a:lnTo>
                  <a:pt x="3170237" y="258358"/>
                </a:lnTo>
                <a:lnTo>
                  <a:pt x="3188148" y="258359"/>
                </a:lnTo>
                <a:lnTo>
                  <a:pt x="3206059" y="258359"/>
                </a:lnTo>
                <a:lnTo>
                  <a:pt x="3223970" y="258359"/>
                </a:lnTo>
                <a:lnTo>
                  <a:pt x="3241881" y="258359"/>
                </a:lnTo>
                <a:lnTo>
                  <a:pt x="3259792" y="258359"/>
                </a:lnTo>
                <a:lnTo>
                  <a:pt x="3277703" y="258359"/>
                </a:lnTo>
                <a:lnTo>
                  <a:pt x="3295614" y="258359"/>
                </a:lnTo>
                <a:lnTo>
                  <a:pt x="3313524" y="258359"/>
                </a:lnTo>
                <a:lnTo>
                  <a:pt x="3331435" y="258359"/>
                </a:lnTo>
                <a:lnTo>
                  <a:pt x="3349346" y="258359"/>
                </a:lnTo>
                <a:lnTo>
                  <a:pt x="3367257" y="258359"/>
                </a:lnTo>
                <a:lnTo>
                  <a:pt x="3385168" y="258359"/>
                </a:lnTo>
                <a:lnTo>
                  <a:pt x="3403079" y="258359"/>
                </a:lnTo>
                <a:lnTo>
                  <a:pt x="3420990" y="258359"/>
                </a:lnTo>
                <a:lnTo>
                  <a:pt x="3438901" y="258359"/>
                </a:lnTo>
                <a:lnTo>
                  <a:pt x="3456812" y="258359"/>
                </a:lnTo>
                <a:lnTo>
                  <a:pt x="3474723" y="258359"/>
                </a:lnTo>
                <a:lnTo>
                  <a:pt x="3492634" y="258359"/>
                </a:lnTo>
                <a:lnTo>
                  <a:pt x="3510545" y="258359"/>
                </a:lnTo>
                <a:lnTo>
                  <a:pt x="3528456" y="258359"/>
                </a:lnTo>
                <a:lnTo>
                  <a:pt x="3546367" y="258359"/>
                </a:lnTo>
                <a:lnTo>
                  <a:pt x="3564278" y="258359"/>
                </a:lnTo>
                <a:lnTo>
                  <a:pt x="3582189" y="258359"/>
                </a:lnTo>
                <a:lnTo>
                  <a:pt x="3600100" y="258359"/>
                </a:lnTo>
                <a:lnTo>
                  <a:pt x="3618011" y="258359"/>
                </a:lnTo>
                <a:lnTo>
                  <a:pt x="3635921" y="258358"/>
                </a:lnTo>
                <a:lnTo>
                  <a:pt x="3653832" y="258339"/>
                </a:lnTo>
                <a:lnTo>
                  <a:pt x="3671743" y="258136"/>
                </a:lnTo>
                <a:lnTo>
                  <a:pt x="3689654" y="256817"/>
                </a:lnTo>
                <a:lnTo>
                  <a:pt x="3707565" y="251657"/>
                </a:lnTo>
                <a:lnTo>
                  <a:pt x="3725476" y="240089"/>
                </a:lnTo>
                <a:lnTo>
                  <a:pt x="3743387" y="227121"/>
                </a:lnTo>
                <a:lnTo>
                  <a:pt x="3761298" y="224857"/>
                </a:lnTo>
                <a:lnTo>
                  <a:pt x="3779209" y="235822"/>
                </a:lnTo>
                <a:lnTo>
                  <a:pt x="3797120" y="248850"/>
                </a:lnTo>
                <a:lnTo>
                  <a:pt x="3815031" y="255842"/>
                </a:lnTo>
                <a:lnTo>
                  <a:pt x="3832942" y="257938"/>
                </a:lnTo>
                <a:lnTo>
                  <a:pt x="3850853" y="269725"/>
                </a:lnTo>
                <a:lnTo>
                  <a:pt x="3868764" y="268053"/>
                </a:lnTo>
                <a:lnTo>
                  <a:pt x="3886675" y="35301"/>
                </a:lnTo>
                <a:lnTo>
                  <a:pt x="3904586" y="296119"/>
                </a:lnTo>
                <a:lnTo>
                  <a:pt x="3922497" y="285558"/>
                </a:lnTo>
                <a:lnTo>
                  <a:pt x="3940408" y="255972"/>
                </a:lnTo>
                <a:lnTo>
                  <a:pt x="3958318" y="253240"/>
                </a:lnTo>
                <a:lnTo>
                  <a:pt x="3976229" y="248407"/>
                </a:lnTo>
                <a:lnTo>
                  <a:pt x="3994140" y="240816"/>
                </a:lnTo>
                <a:lnTo>
                  <a:pt x="4012051" y="230321"/>
                </a:lnTo>
                <a:lnTo>
                  <a:pt x="4029962" y="217731"/>
                </a:lnTo>
                <a:lnTo>
                  <a:pt x="4047873" y="204981"/>
                </a:lnTo>
                <a:lnTo>
                  <a:pt x="4065784" y="194775"/>
                </a:lnTo>
                <a:lnTo>
                  <a:pt x="4083695" y="189688"/>
                </a:lnTo>
                <a:lnTo>
                  <a:pt x="4101606" y="191116"/>
                </a:lnTo>
                <a:lnTo>
                  <a:pt x="4119517" y="198660"/>
                </a:lnTo>
                <a:lnTo>
                  <a:pt x="4137428" y="210304"/>
                </a:lnTo>
                <a:lnTo>
                  <a:pt x="4155339" y="223288"/>
                </a:lnTo>
                <a:lnTo>
                  <a:pt x="4173250" y="235152"/>
                </a:lnTo>
                <a:lnTo>
                  <a:pt x="4191161" y="244436"/>
                </a:lnTo>
                <a:lnTo>
                  <a:pt x="4209072" y="250786"/>
                </a:lnTo>
                <a:lnTo>
                  <a:pt x="4226983" y="254624"/>
                </a:lnTo>
                <a:lnTo>
                  <a:pt x="4244894" y="256689"/>
                </a:lnTo>
                <a:lnTo>
                  <a:pt x="4262804" y="257682"/>
                </a:lnTo>
                <a:lnTo>
                  <a:pt x="4280715" y="258110"/>
                </a:lnTo>
                <a:lnTo>
                  <a:pt x="4298626" y="258276"/>
                </a:lnTo>
                <a:lnTo>
                  <a:pt x="4316537" y="258334"/>
                </a:lnTo>
                <a:lnTo>
                  <a:pt x="4334448" y="258352"/>
                </a:lnTo>
                <a:lnTo>
                  <a:pt x="4352359" y="258357"/>
                </a:lnTo>
                <a:lnTo>
                  <a:pt x="4370270" y="258359"/>
                </a:lnTo>
                <a:lnTo>
                  <a:pt x="4388181" y="258359"/>
                </a:lnTo>
                <a:lnTo>
                  <a:pt x="4406092" y="258359"/>
                </a:lnTo>
                <a:lnTo>
                  <a:pt x="4424003" y="258359"/>
                </a:lnTo>
                <a:lnTo>
                  <a:pt x="4441914" y="258359"/>
                </a:lnTo>
                <a:lnTo>
                  <a:pt x="4459825" y="258359"/>
                </a:lnTo>
                <a:lnTo>
                  <a:pt x="4477736" y="258359"/>
                </a:lnTo>
                <a:lnTo>
                  <a:pt x="4495647" y="258359"/>
                </a:lnTo>
                <a:lnTo>
                  <a:pt x="4513558" y="258359"/>
                </a:lnTo>
                <a:lnTo>
                  <a:pt x="4531469" y="258359"/>
                </a:lnTo>
                <a:lnTo>
                  <a:pt x="4549380" y="258359"/>
                </a:lnTo>
                <a:lnTo>
                  <a:pt x="4567291" y="258359"/>
                </a:lnTo>
                <a:lnTo>
                  <a:pt x="4585201" y="258359"/>
                </a:lnTo>
                <a:lnTo>
                  <a:pt x="4603112" y="258359"/>
                </a:lnTo>
                <a:lnTo>
                  <a:pt x="4621023" y="258359"/>
                </a:lnTo>
                <a:lnTo>
                  <a:pt x="4638934" y="258359"/>
                </a:lnTo>
                <a:lnTo>
                  <a:pt x="4656845" y="258359"/>
                </a:lnTo>
                <a:lnTo>
                  <a:pt x="4674756" y="258359"/>
                </a:lnTo>
                <a:lnTo>
                  <a:pt x="4692667" y="258359"/>
                </a:lnTo>
                <a:lnTo>
                  <a:pt x="4710578" y="258359"/>
                </a:lnTo>
                <a:lnTo>
                  <a:pt x="4728489" y="258359"/>
                </a:lnTo>
                <a:lnTo>
                  <a:pt x="4746400" y="258359"/>
                </a:lnTo>
                <a:lnTo>
                  <a:pt x="4764311" y="258359"/>
                </a:lnTo>
                <a:lnTo>
                  <a:pt x="4782222" y="258359"/>
                </a:lnTo>
                <a:lnTo>
                  <a:pt x="4800133" y="258359"/>
                </a:lnTo>
                <a:lnTo>
                  <a:pt x="4818044" y="258359"/>
                </a:lnTo>
                <a:lnTo>
                  <a:pt x="4835955" y="258355"/>
                </a:lnTo>
                <a:lnTo>
                  <a:pt x="4853866" y="258297"/>
                </a:lnTo>
                <a:lnTo>
                  <a:pt x="4871777" y="257802"/>
                </a:lnTo>
                <a:lnTo>
                  <a:pt x="4889688" y="255220"/>
                </a:lnTo>
                <a:lnTo>
                  <a:pt x="4907598" y="247273"/>
                </a:lnTo>
                <a:lnTo>
                  <a:pt x="4925509" y="233796"/>
                </a:lnTo>
                <a:lnTo>
                  <a:pt x="4943420" y="224224"/>
                </a:lnTo>
                <a:lnTo>
                  <a:pt x="4961331" y="228604"/>
                </a:lnTo>
                <a:lnTo>
                  <a:pt x="4979242" y="242091"/>
                </a:lnTo>
                <a:lnTo>
                  <a:pt x="4997153" y="252780"/>
                </a:lnTo>
                <a:lnTo>
                  <a:pt x="5015064" y="257157"/>
                </a:lnTo>
                <a:lnTo>
                  <a:pt x="5032975" y="258191"/>
                </a:lnTo>
                <a:lnTo>
                  <a:pt x="5050886" y="283912"/>
                </a:lnTo>
                <a:lnTo>
                  <a:pt x="5068797" y="196801"/>
                </a:lnTo>
                <a:lnTo>
                  <a:pt x="5086708" y="231973"/>
                </a:lnTo>
                <a:lnTo>
                  <a:pt x="5104619" y="328657"/>
                </a:lnTo>
                <a:lnTo>
                  <a:pt x="5122530" y="256861"/>
                </a:lnTo>
                <a:lnTo>
                  <a:pt x="5140441" y="254968"/>
                </a:lnTo>
                <a:lnTo>
                  <a:pt x="5158352" y="251397"/>
                </a:lnTo>
                <a:lnTo>
                  <a:pt x="5176263" y="245400"/>
                </a:lnTo>
                <a:lnTo>
                  <a:pt x="5194174" y="236488"/>
                </a:lnTo>
                <a:lnTo>
                  <a:pt x="5212084" y="224894"/>
                </a:lnTo>
                <a:lnTo>
                  <a:pt x="5229995" y="211933"/>
                </a:lnTo>
                <a:lnTo>
                  <a:pt x="5247906" y="199963"/>
                </a:lnTo>
                <a:lnTo>
                  <a:pt x="5265817" y="191762"/>
                </a:lnTo>
                <a:lnTo>
                  <a:pt x="5283728" y="189498"/>
                </a:lnTo>
                <a:lnTo>
                  <a:pt x="5301639" y="193804"/>
                </a:lnTo>
                <a:lnTo>
                  <a:pt x="5319550" y="203488"/>
                </a:lnTo>
                <a:lnTo>
                  <a:pt x="5337461" y="216073"/>
                </a:lnTo>
                <a:lnTo>
                  <a:pt x="5355372" y="228813"/>
                </a:lnTo>
                <a:lnTo>
                  <a:pt x="5373283" y="239641"/>
                </a:lnTo>
                <a:lnTo>
                  <a:pt x="5391194" y="247608"/>
                </a:lnTo>
                <a:lnTo>
                  <a:pt x="5409105" y="252760"/>
                </a:lnTo>
                <a:lnTo>
                  <a:pt x="5427016" y="255716"/>
                </a:lnTo>
                <a:lnTo>
                  <a:pt x="5444927" y="257227"/>
                </a:lnTo>
                <a:lnTo>
                  <a:pt x="5462838" y="257920"/>
                </a:lnTo>
                <a:lnTo>
                  <a:pt x="5480749" y="258204"/>
                </a:lnTo>
                <a:lnTo>
                  <a:pt x="5498660" y="258310"/>
                </a:lnTo>
                <a:lnTo>
                  <a:pt x="5516571" y="258345"/>
                </a:lnTo>
                <a:lnTo>
                  <a:pt x="5534481" y="258355"/>
                </a:lnTo>
                <a:lnTo>
                  <a:pt x="5552392" y="258358"/>
                </a:lnTo>
                <a:lnTo>
                  <a:pt x="5570303" y="258359"/>
                </a:lnTo>
                <a:lnTo>
                  <a:pt x="5588214" y="258359"/>
                </a:lnTo>
                <a:lnTo>
                  <a:pt x="5606125" y="258359"/>
                </a:lnTo>
                <a:lnTo>
                  <a:pt x="5624036" y="258359"/>
                </a:lnTo>
                <a:lnTo>
                  <a:pt x="5641947" y="258359"/>
                </a:lnTo>
                <a:lnTo>
                  <a:pt x="5659858" y="258359"/>
                </a:lnTo>
                <a:lnTo>
                  <a:pt x="5677769" y="258359"/>
                </a:lnTo>
                <a:lnTo>
                  <a:pt x="5695680" y="258359"/>
                </a:lnTo>
                <a:lnTo>
                  <a:pt x="5713591" y="258359"/>
                </a:lnTo>
                <a:lnTo>
                  <a:pt x="5731502" y="258359"/>
                </a:lnTo>
                <a:lnTo>
                  <a:pt x="5749413" y="258359"/>
                </a:lnTo>
                <a:lnTo>
                  <a:pt x="5767324" y="258359"/>
                </a:lnTo>
                <a:lnTo>
                  <a:pt x="5785235" y="258359"/>
                </a:lnTo>
                <a:lnTo>
                  <a:pt x="5803146" y="258359"/>
                </a:lnTo>
                <a:lnTo>
                  <a:pt x="5821057" y="258359"/>
                </a:lnTo>
                <a:lnTo>
                  <a:pt x="5838967" y="258359"/>
                </a:lnTo>
                <a:lnTo>
                  <a:pt x="5856878" y="258359"/>
                </a:lnTo>
                <a:lnTo>
                  <a:pt x="5874789" y="258359"/>
                </a:lnTo>
                <a:lnTo>
                  <a:pt x="5892700" y="258359"/>
                </a:lnTo>
                <a:lnTo>
                  <a:pt x="5910611" y="258359"/>
                </a:lnTo>
                <a:lnTo>
                  <a:pt x="5928522" y="258359"/>
                </a:lnTo>
                <a:lnTo>
                  <a:pt x="5946433" y="258359"/>
                </a:lnTo>
                <a:lnTo>
                  <a:pt x="5964344" y="258359"/>
                </a:lnTo>
                <a:lnTo>
                  <a:pt x="5982255" y="258359"/>
                </a:lnTo>
                <a:lnTo>
                  <a:pt x="6000166" y="258359"/>
                </a:lnTo>
                <a:lnTo>
                  <a:pt x="6018077" y="258358"/>
                </a:lnTo>
                <a:lnTo>
                  <a:pt x="6035988" y="258344"/>
                </a:lnTo>
                <a:lnTo>
                  <a:pt x="6053899" y="258185"/>
                </a:lnTo>
                <a:lnTo>
                  <a:pt x="6071810" y="257086"/>
                </a:lnTo>
                <a:lnTo>
                  <a:pt x="6089721" y="252534"/>
                </a:lnTo>
                <a:lnTo>
                  <a:pt x="6107632" y="241635"/>
                </a:lnTo>
                <a:lnTo>
                  <a:pt x="6125543" y="228242"/>
                </a:lnTo>
                <a:lnTo>
                  <a:pt x="6143454" y="224342"/>
                </a:lnTo>
                <a:lnTo>
                  <a:pt x="6161364" y="234259"/>
                </a:lnTo>
                <a:lnTo>
                  <a:pt x="6179275" y="247649"/>
                </a:lnTo>
                <a:lnTo>
                  <a:pt x="6197186" y="255373"/>
                </a:lnTo>
                <a:lnTo>
                  <a:pt x="6215097" y="257834"/>
                </a:lnTo>
                <a:lnTo>
                  <a:pt x="6233008" y="266171"/>
                </a:lnTo>
                <a:lnTo>
                  <a:pt x="6250919" y="271599"/>
                </a:lnTo>
                <a:lnTo>
                  <a:pt x="6268830" y="0"/>
                </a:lnTo>
                <a:lnTo>
                  <a:pt x="6286741" y="287622"/>
                </a:lnTo>
                <a:lnTo>
                  <a:pt x="6304652" y="294194"/>
                </a:lnTo>
                <a:lnTo>
                  <a:pt x="6322563" y="256179"/>
                </a:lnTo>
                <a:lnTo>
                  <a:pt x="6340474" y="253634"/>
                </a:lnTo>
                <a:lnTo>
                  <a:pt x="6358385" y="249071"/>
                </a:lnTo>
                <a:lnTo>
                  <a:pt x="6376296" y="241807"/>
                </a:lnTo>
                <a:lnTo>
                  <a:pt x="6394207" y="231616"/>
                </a:lnTo>
                <a:lnTo>
                  <a:pt x="6412118" y="219182"/>
                </a:lnTo>
                <a:lnTo>
                  <a:pt x="6430029" y="206324"/>
                </a:lnTo>
                <a:lnTo>
                  <a:pt x="6447940" y="195697"/>
                </a:lnTo>
                <a:lnTo>
                  <a:pt x="6465851" y="189943"/>
                </a:lnTo>
                <a:lnTo>
                  <a:pt x="6483761" y="190632"/>
                </a:lnTo>
                <a:lnTo>
                  <a:pt x="6501672" y="197572"/>
                </a:lnTo>
                <a:lnTo>
                  <a:pt x="6519583" y="208893"/>
                </a:lnTo>
                <a:lnTo>
                  <a:pt x="6537494" y="221862"/>
                </a:lnTo>
                <a:lnTo>
                  <a:pt x="6555405" y="233945"/>
                </a:lnTo>
                <a:lnTo>
                  <a:pt x="6573316" y="243552"/>
                </a:lnTo>
                <a:lnTo>
                  <a:pt x="6591227" y="250216"/>
                </a:lnTo>
                <a:lnTo>
                  <a:pt x="6609138" y="254299"/>
                </a:lnTo>
                <a:lnTo>
                  <a:pt x="6627049" y="256524"/>
                </a:lnTo>
                <a:lnTo>
                  <a:pt x="6644960" y="257607"/>
                </a:lnTo>
                <a:lnTo>
                  <a:pt x="6662871" y="258080"/>
                </a:lnTo>
                <a:lnTo>
                  <a:pt x="6680782" y="258265"/>
                </a:lnTo>
                <a:lnTo>
                  <a:pt x="6698693" y="258330"/>
                </a:lnTo>
                <a:lnTo>
                  <a:pt x="6716604" y="258351"/>
                </a:lnTo>
                <a:lnTo>
                  <a:pt x="6734515" y="258357"/>
                </a:lnTo>
                <a:lnTo>
                  <a:pt x="6752426" y="258359"/>
                </a:lnTo>
                <a:lnTo>
                  <a:pt x="6770337" y="258359"/>
                </a:lnTo>
                <a:lnTo>
                  <a:pt x="6788247" y="258359"/>
                </a:lnTo>
                <a:lnTo>
                  <a:pt x="6806158" y="258359"/>
                </a:lnTo>
                <a:lnTo>
                  <a:pt x="6824069" y="258359"/>
                </a:lnTo>
                <a:lnTo>
                  <a:pt x="6841980" y="258359"/>
                </a:lnTo>
                <a:lnTo>
                  <a:pt x="6859891" y="258359"/>
                </a:lnTo>
                <a:lnTo>
                  <a:pt x="6877802" y="258359"/>
                </a:lnTo>
                <a:lnTo>
                  <a:pt x="6895713" y="258359"/>
                </a:lnTo>
                <a:lnTo>
                  <a:pt x="6913624" y="258359"/>
                </a:lnTo>
                <a:lnTo>
                  <a:pt x="6931535" y="258359"/>
                </a:lnTo>
                <a:lnTo>
                  <a:pt x="6949446" y="258359"/>
                </a:lnTo>
                <a:lnTo>
                  <a:pt x="6967357" y="258359"/>
                </a:lnTo>
                <a:lnTo>
                  <a:pt x="6985268" y="258359"/>
                </a:lnTo>
                <a:lnTo>
                  <a:pt x="7003179" y="258359"/>
                </a:lnTo>
                <a:lnTo>
                  <a:pt x="7021090" y="258359"/>
                </a:lnTo>
                <a:lnTo>
                  <a:pt x="7039001" y="258359"/>
                </a:lnTo>
                <a:lnTo>
                  <a:pt x="7056912" y="258359"/>
                </a:lnTo>
                <a:lnTo>
                  <a:pt x="7074823" y="258359"/>
                </a:lnTo>
                <a:lnTo>
                  <a:pt x="7092734" y="258359"/>
                </a:lnTo>
                <a:lnTo>
                  <a:pt x="7110644" y="258359"/>
                </a:lnTo>
                <a:lnTo>
                  <a:pt x="7128555" y="258359"/>
                </a:lnTo>
                <a:lnTo>
                  <a:pt x="7146466" y="258359"/>
                </a:lnTo>
                <a:lnTo>
                  <a:pt x="7164377" y="258359"/>
                </a:lnTo>
                <a:lnTo>
                  <a:pt x="7182288" y="258359"/>
                </a:lnTo>
                <a:lnTo>
                  <a:pt x="7200199" y="258359"/>
                </a:lnTo>
                <a:lnTo>
                  <a:pt x="7218110" y="258356"/>
                </a:lnTo>
                <a:lnTo>
                  <a:pt x="7236021" y="258312"/>
                </a:lnTo>
                <a:lnTo>
                  <a:pt x="7253932" y="257912"/>
                </a:lnTo>
                <a:lnTo>
                  <a:pt x="7271843" y="255709"/>
                </a:lnTo>
                <a:lnTo>
                  <a:pt x="7289754" y="248499"/>
                </a:lnTo>
                <a:lnTo>
                  <a:pt x="7307665" y="235350"/>
                </a:lnTo>
                <a:lnTo>
                  <a:pt x="7325576" y="224683"/>
                </a:lnTo>
                <a:lnTo>
                  <a:pt x="7343487" y="227443"/>
                </a:lnTo>
                <a:lnTo>
                  <a:pt x="7361398" y="240557"/>
                </a:lnTo>
                <a:lnTo>
                  <a:pt x="7379309" y="251929"/>
                </a:lnTo>
                <a:lnTo>
                  <a:pt x="7397220" y="256901"/>
                </a:lnTo>
                <a:lnTo>
                  <a:pt x="7415131" y="258147"/>
                </a:lnTo>
                <a:lnTo>
                  <a:pt x="7433041" y="280368"/>
                </a:lnTo>
                <a:lnTo>
                  <a:pt x="7450952" y="245998"/>
                </a:lnTo>
                <a:lnTo>
                  <a:pt x="7468863" y="182809"/>
                </a:lnTo>
                <a:lnTo>
                  <a:pt x="7486774" y="321580"/>
                </a:lnTo>
                <a:lnTo>
                  <a:pt x="7504685" y="259595"/>
                </a:lnTo>
                <a:lnTo>
                  <a:pt x="7522596" y="255247"/>
                </a:lnTo>
                <a:lnTo>
                  <a:pt x="7540507" y="251900"/>
                </a:lnTo>
                <a:lnTo>
                  <a:pt x="7558418" y="246206"/>
                </a:lnTo>
                <a:lnTo>
                  <a:pt x="7576329" y="237624"/>
                </a:lnTo>
                <a:lnTo>
                  <a:pt x="7594240" y="226284"/>
                </a:lnTo>
                <a:lnTo>
                  <a:pt x="7612151" y="213374"/>
                </a:lnTo>
                <a:lnTo>
                  <a:pt x="7630062" y="201156"/>
                </a:lnTo>
                <a:lnTo>
                  <a:pt x="7647973" y="192409"/>
                </a:lnTo>
                <a:lnTo>
                  <a:pt x="7665884" y="189421"/>
                </a:lnTo>
                <a:lnTo>
                  <a:pt x="7683795" y="193023"/>
                </a:lnTo>
                <a:lnTo>
                  <a:pt x="7701706" y="202217"/>
                </a:lnTo>
                <a:lnTo>
                  <a:pt x="7719617" y="214620"/>
                </a:lnTo>
                <a:lnTo>
                  <a:pt x="7737527" y="227463"/>
                </a:lnTo>
                <a:lnTo>
                  <a:pt x="7755438" y="238572"/>
                </a:lnTo>
                <a:lnTo>
                  <a:pt x="7773349" y="246870"/>
                </a:lnTo>
                <a:lnTo>
                  <a:pt x="7791260" y="252310"/>
                </a:lnTo>
                <a:lnTo>
                  <a:pt x="7809171" y="255472"/>
                </a:lnTo>
                <a:lnTo>
                  <a:pt x="7827082" y="257109"/>
                </a:lnTo>
                <a:lnTo>
                  <a:pt x="7844993" y="257869"/>
                </a:lnTo>
                <a:lnTo>
                  <a:pt x="7862904" y="258185"/>
                </a:lnTo>
                <a:lnTo>
                  <a:pt x="7880815" y="258303"/>
                </a:lnTo>
                <a:lnTo>
                  <a:pt x="7898726" y="258343"/>
                </a:lnTo>
                <a:lnTo>
                  <a:pt x="7916637" y="258355"/>
                </a:lnTo>
                <a:lnTo>
                  <a:pt x="7934548" y="258358"/>
                </a:lnTo>
                <a:lnTo>
                  <a:pt x="7952459" y="258359"/>
                </a:lnTo>
                <a:lnTo>
                  <a:pt x="7970370" y="258359"/>
                </a:lnTo>
                <a:lnTo>
                  <a:pt x="7988281" y="258359"/>
                </a:lnTo>
                <a:lnTo>
                  <a:pt x="8006192" y="258359"/>
                </a:lnTo>
                <a:lnTo>
                  <a:pt x="8024103" y="258359"/>
                </a:lnTo>
                <a:lnTo>
                  <a:pt x="8042014" y="258359"/>
                </a:lnTo>
                <a:lnTo>
                  <a:pt x="8059924" y="258359"/>
                </a:lnTo>
                <a:lnTo>
                  <a:pt x="8077835" y="258359"/>
                </a:lnTo>
                <a:lnTo>
                  <a:pt x="8095746" y="258359"/>
                </a:lnTo>
                <a:lnTo>
                  <a:pt x="8113657" y="258359"/>
                </a:lnTo>
                <a:lnTo>
                  <a:pt x="8131568" y="258359"/>
                </a:lnTo>
                <a:lnTo>
                  <a:pt x="8149479" y="258359"/>
                </a:lnTo>
                <a:lnTo>
                  <a:pt x="8167390" y="258359"/>
                </a:lnTo>
                <a:lnTo>
                  <a:pt x="8185301" y="258359"/>
                </a:lnTo>
                <a:lnTo>
                  <a:pt x="8203212" y="258359"/>
                </a:lnTo>
                <a:lnTo>
                  <a:pt x="8221123" y="258359"/>
                </a:lnTo>
                <a:lnTo>
                  <a:pt x="8239034" y="258359"/>
                </a:lnTo>
                <a:lnTo>
                  <a:pt x="8256945" y="258359"/>
                </a:lnTo>
                <a:lnTo>
                  <a:pt x="8274856" y="258359"/>
                </a:lnTo>
                <a:lnTo>
                  <a:pt x="8292767" y="258359"/>
                </a:lnTo>
                <a:lnTo>
                  <a:pt x="8310678" y="258359"/>
                </a:lnTo>
                <a:lnTo>
                  <a:pt x="8328589" y="258359"/>
                </a:lnTo>
                <a:lnTo>
                  <a:pt x="8346500" y="258359"/>
                </a:lnTo>
                <a:lnTo>
                  <a:pt x="8364410" y="258359"/>
                </a:lnTo>
                <a:lnTo>
                  <a:pt x="8382321" y="258359"/>
                </a:lnTo>
                <a:lnTo>
                  <a:pt x="8400232" y="258358"/>
                </a:lnTo>
                <a:lnTo>
                  <a:pt x="8418143" y="258348"/>
                </a:lnTo>
                <a:lnTo>
                  <a:pt x="8436054" y="258223"/>
                </a:lnTo>
                <a:lnTo>
                  <a:pt x="8453965" y="257315"/>
                </a:lnTo>
                <a:lnTo>
                  <a:pt x="8471876" y="253325"/>
                </a:lnTo>
                <a:lnTo>
                  <a:pt x="8489787" y="243138"/>
                </a:lnTo>
                <a:lnTo>
                  <a:pt x="8507698" y="229491"/>
                </a:lnTo>
                <a:lnTo>
                  <a:pt x="8525609" y="224017"/>
                </a:lnTo>
                <a:lnTo>
                  <a:pt x="8543520" y="232734"/>
                </a:lnTo>
                <a:lnTo>
                  <a:pt x="8561431" y="246366"/>
                </a:lnTo>
                <a:lnTo>
                  <a:pt x="8579342" y="254838"/>
                </a:lnTo>
                <a:lnTo>
                  <a:pt x="8597253" y="257708"/>
                </a:lnTo>
                <a:lnTo>
                  <a:pt x="8615164" y="262614"/>
                </a:lnTo>
                <a:lnTo>
                  <a:pt x="8633075" y="275144"/>
                </a:lnTo>
                <a:lnTo>
                  <a:pt x="8650986" y="49202"/>
                </a:lnTo>
                <a:lnTo>
                  <a:pt x="8668897" y="279122"/>
                </a:lnTo>
                <a:lnTo>
                  <a:pt x="8686807" y="302821"/>
                </a:lnTo>
                <a:lnTo>
                  <a:pt x="8704718" y="256371"/>
                </a:lnTo>
                <a:lnTo>
                  <a:pt x="8722629" y="254002"/>
                </a:lnTo>
                <a:lnTo>
                  <a:pt x="8740540" y="249701"/>
                </a:lnTo>
                <a:lnTo>
                  <a:pt x="8758451" y="242761"/>
                </a:lnTo>
                <a:lnTo>
                  <a:pt x="8776362" y="232881"/>
                </a:lnTo>
                <a:lnTo>
                  <a:pt x="8794273" y="220627"/>
                </a:lnTo>
                <a:lnTo>
                  <a:pt x="8812184" y="207695"/>
                </a:lnTo>
                <a:lnTo>
                  <a:pt x="8830095" y="196680"/>
                </a:lnTo>
                <a:lnTo>
                  <a:pt x="8848006" y="190279"/>
                </a:lnTo>
                <a:lnTo>
                  <a:pt x="8865917" y="190227"/>
                </a:lnTo>
                <a:lnTo>
                  <a:pt x="8883828" y="196539"/>
                </a:lnTo>
                <a:lnTo>
                  <a:pt x="8901739" y="207502"/>
                </a:lnTo>
                <a:lnTo>
                  <a:pt x="8919650" y="220425"/>
                </a:lnTo>
                <a:lnTo>
                  <a:pt x="8937561" y="232706"/>
                </a:lnTo>
                <a:lnTo>
                  <a:pt x="8955472" y="242630"/>
                </a:lnTo>
                <a:lnTo>
                  <a:pt x="8973383" y="249615"/>
                </a:lnTo>
                <a:lnTo>
                  <a:pt x="8991294" y="253952"/>
                </a:lnTo>
                <a:lnTo>
                  <a:pt x="9009204" y="256345"/>
                </a:lnTo>
                <a:lnTo>
                  <a:pt x="9027115" y="257524"/>
                </a:lnTo>
                <a:lnTo>
                  <a:pt x="9045026" y="258046"/>
                </a:lnTo>
                <a:lnTo>
                  <a:pt x="9062937" y="258252"/>
                </a:lnTo>
                <a:lnTo>
                  <a:pt x="9080848" y="258326"/>
                </a:lnTo>
                <a:lnTo>
                  <a:pt x="9098759" y="258350"/>
                </a:lnTo>
                <a:lnTo>
                  <a:pt x="9116670" y="258357"/>
                </a:lnTo>
                <a:lnTo>
                  <a:pt x="9134581" y="258358"/>
                </a:lnTo>
                <a:lnTo>
                  <a:pt x="9152492" y="258359"/>
                </a:lnTo>
                <a:lnTo>
                  <a:pt x="9170403" y="258359"/>
                </a:lnTo>
                <a:lnTo>
                  <a:pt x="9188314" y="258359"/>
                </a:lnTo>
                <a:lnTo>
                  <a:pt x="9206225" y="258359"/>
                </a:lnTo>
                <a:lnTo>
                  <a:pt x="9224136" y="258359"/>
                </a:lnTo>
                <a:lnTo>
                  <a:pt x="9242047" y="258359"/>
                </a:lnTo>
                <a:lnTo>
                  <a:pt x="9259958" y="258359"/>
                </a:lnTo>
                <a:lnTo>
                  <a:pt x="9277869" y="258359"/>
                </a:lnTo>
                <a:lnTo>
                  <a:pt x="9295780" y="258359"/>
                </a:lnTo>
                <a:lnTo>
                  <a:pt x="9313690" y="258359"/>
                </a:lnTo>
                <a:lnTo>
                  <a:pt x="9331601" y="258359"/>
                </a:lnTo>
                <a:lnTo>
                  <a:pt x="9349512" y="258359"/>
                </a:lnTo>
                <a:lnTo>
                  <a:pt x="9367423" y="258359"/>
                </a:lnTo>
                <a:lnTo>
                  <a:pt x="9385334" y="258359"/>
                </a:lnTo>
                <a:lnTo>
                  <a:pt x="9403245" y="258359"/>
                </a:lnTo>
                <a:lnTo>
                  <a:pt x="9421156" y="258359"/>
                </a:lnTo>
                <a:lnTo>
                  <a:pt x="9439067" y="258359"/>
                </a:lnTo>
                <a:lnTo>
                  <a:pt x="9456978" y="258359"/>
                </a:lnTo>
                <a:lnTo>
                  <a:pt x="9474889" y="258359"/>
                </a:lnTo>
                <a:lnTo>
                  <a:pt x="9492800" y="258359"/>
                </a:lnTo>
                <a:lnTo>
                  <a:pt x="9510711" y="258359"/>
                </a:lnTo>
                <a:lnTo>
                  <a:pt x="9528622" y="258359"/>
                </a:lnTo>
                <a:lnTo>
                  <a:pt x="9546533" y="258359"/>
                </a:lnTo>
                <a:lnTo>
                  <a:pt x="9564444" y="258359"/>
                </a:lnTo>
                <a:lnTo>
                  <a:pt x="9582355" y="258359"/>
                </a:lnTo>
                <a:lnTo>
                  <a:pt x="9600266" y="258357"/>
                </a:lnTo>
                <a:lnTo>
                  <a:pt x="9618177" y="258323"/>
                </a:lnTo>
                <a:lnTo>
                  <a:pt x="9636087" y="258003"/>
                </a:lnTo>
                <a:lnTo>
                  <a:pt x="9653998" y="256134"/>
                </a:lnTo>
                <a:lnTo>
                  <a:pt x="9671909" y="249639"/>
                </a:lnTo>
                <a:lnTo>
                  <a:pt x="9689820" y="236930"/>
                </a:lnTo>
                <a:lnTo>
                  <a:pt x="9707731" y="225326"/>
                </a:lnTo>
                <a:lnTo>
                  <a:pt x="9725642" y="226421"/>
                </a:lnTo>
                <a:lnTo>
                  <a:pt x="9743553" y="238990"/>
                </a:lnTo>
                <a:lnTo>
                  <a:pt x="9761464" y="250991"/>
                </a:lnTo>
                <a:lnTo>
                  <a:pt x="9779375" y="256600"/>
                </a:lnTo>
                <a:lnTo>
                  <a:pt x="9797286" y="258092"/>
                </a:lnTo>
                <a:lnTo>
                  <a:pt x="9815197" y="276823"/>
                </a:lnTo>
                <a:lnTo>
                  <a:pt x="9833108" y="260958"/>
                </a:lnTo>
                <a:lnTo>
                  <a:pt x="9851019" y="133642"/>
                </a:lnTo>
                <a:lnTo>
                  <a:pt x="9868930" y="313098"/>
                </a:lnTo>
                <a:lnTo>
                  <a:pt x="9886841" y="268260"/>
                </a:lnTo>
                <a:lnTo>
                  <a:pt x="9904752" y="255507"/>
                </a:lnTo>
                <a:lnTo>
                  <a:pt x="9922663" y="252375"/>
                </a:lnTo>
                <a:lnTo>
                  <a:pt x="9940573" y="246975"/>
                </a:lnTo>
                <a:lnTo>
                  <a:pt x="9958484" y="238724"/>
                </a:lnTo>
                <a:lnTo>
                  <a:pt x="9976395" y="227654"/>
                </a:lnTo>
                <a:lnTo>
                  <a:pt x="9994306" y="214823"/>
                </a:lnTo>
                <a:lnTo>
                  <a:pt x="10012217" y="202393"/>
                </a:lnTo>
                <a:lnTo>
                  <a:pt x="10030128" y="193129"/>
                </a:lnTo>
                <a:lnTo>
                  <a:pt x="10048039" y="189427"/>
                </a:lnTo>
                <a:lnTo>
                  <a:pt x="10065950" y="192314"/>
                </a:lnTo>
                <a:lnTo>
                  <a:pt x="10083861" y="200986"/>
                </a:lnTo>
                <a:lnTo>
                  <a:pt x="10101772" y="213172"/>
                </a:lnTo>
                <a:lnTo>
                  <a:pt x="10119683" y="226091"/>
                </a:lnTo>
                <a:lnTo>
                  <a:pt x="10137594" y="237467"/>
                </a:lnTo>
                <a:lnTo>
                  <a:pt x="10155505" y="246095"/>
                </a:lnTo>
                <a:lnTo>
                  <a:pt x="10173416" y="251832"/>
                </a:lnTo>
                <a:lnTo>
                  <a:pt x="10191327" y="255209"/>
                </a:lnTo>
                <a:lnTo>
                  <a:pt x="10209238" y="256981"/>
                </a:lnTo>
                <a:lnTo>
                  <a:pt x="10227149" y="257812"/>
                </a:lnTo>
                <a:lnTo>
                  <a:pt x="10245060" y="258162"/>
                </a:lnTo>
                <a:lnTo>
                  <a:pt x="10262970" y="258295"/>
                </a:lnTo>
                <a:lnTo>
                  <a:pt x="10280881" y="258340"/>
                </a:lnTo>
                <a:lnTo>
                  <a:pt x="10298792" y="258354"/>
                </a:lnTo>
                <a:lnTo>
                  <a:pt x="10316703" y="258358"/>
                </a:lnTo>
                <a:lnTo>
                  <a:pt x="10334614" y="258359"/>
                </a:lnTo>
                <a:lnTo>
                  <a:pt x="10352525" y="258359"/>
                </a:lnTo>
                <a:lnTo>
                  <a:pt x="10370436" y="258359"/>
                </a:lnTo>
                <a:lnTo>
                  <a:pt x="10388347" y="258359"/>
                </a:lnTo>
                <a:lnTo>
                  <a:pt x="10406258" y="258359"/>
                </a:lnTo>
                <a:lnTo>
                  <a:pt x="10424169" y="258359"/>
                </a:lnTo>
                <a:lnTo>
                  <a:pt x="10442080" y="258359"/>
                </a:lnTo>
                <a:lnTo>
                  <a:pt x="10459991" y="258359"/>
                </a:lnTo>
                <a:lnTo>
                  <a:pt x="10477902" y="258359"/>
                </a:lnTo>
                <a:lnTo>
                  <a:pt x="10495813" y="258359"/>
                </a:lnTo>
                <a:lnTo>
                  <a:pt x="10513724" y="258359"/>
                </a:lnTo>
                <a:lnTo>
                  <a:pt x="10531635" y="258359"/>
                </a:lnTo>
                <a:lnTo>
                  <a:pt x="10549546" y="258359"/>
                </a:lnTo>
                <a:lnTo>
                  <a:pt x="10567457" y="258359"/>
                </a:lnTo>
                <a:lnTo>
                  <a:pt x="10585367" y="258359"/>
                </a:lnTo>
                <a:lnTo>
                  <a:pt x="10603278" y="258359"/>
                </a:lnTo>
                <a:lnTo>
                  <a:pt x="10621189" y="258359"/>
                </a:lnTo>
                <a:lnTo>
                  <a:pt x="10639100" y="258359"/>
                </a:lnTo>
                <a:lnTo>
                  <a:pt x="10657011" y="258359"/>
                </a:lnTo>
                <a:lnTo>
                  <a:pt x="10674922" y="258359"/>
                </a:lnTo>
                <a:lnTo>
                  <a:pt x="10692833" y="258359"/>
                </a:lnTo>
                <a:lnTo>
                  <a:pt x="10710744" y="258359"/>
                </a:lnTo>
                <a:lnTo>
                  <a:pt x="10728655" y="258359"/>
                </a:lnTo>
              </a:path>
            </a:pathLst>
          </a:custGeom>
          <a:noFill/>
          <a:ln w="17780">
            <a:solidFill>
              <a:srgbClr val="35DE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Freeform 9"/>
          <p:cNvSpPr/>
          <p:nvPr/>
        </p:nvSpPr>
        <p:spPr>
          <a:xfrm>
            <a:off x="731520" y="3877415"/>
            <a:ext cx="10728655" cy="263115"/>
          </a:xfrm>
          <a:custGeom>
            <a:avLst/>
            <a:gdLst/>
            <a:ahLst/>
            <a:cxnLst/>
            <a:rect l="l" t="t" r="r" b="b"/>
            <a:pathLst>
              <a:path w="10728655" h="263115">
                <a:moveTo>
                  <a:pt x="0" y="244804"/>
                </a:moveTo>
                <a:lnTo>
                  <a:pt x="17911" y="245800"/>
                </a:lnTo>
                <a:lnTo>
                  <a:pt x="35822" y="246748"/>
                </a:lnTo>
                <a:lnTo>
                  <a:pt x="53733" y="247647"/>
                </a:lnTo>
                <a:lnTo>
                  <a:pt x="71644" y="248503"/>
                </a:lnTo>
                <a:lnTo>
                  <a:pt x="89555" y="249315"/>
                </a:lnTo>
                <a:lnTo>
                  <a:pt x="107466" y="250087"/>
                </a:lnTo>
                <a:lnTo>
                  <a:pt x="125377" y="242461"/>
                </a:lnTo>
                <a:lnTo>
                  <a:pt x="143288" y="202736"/>
                </a:lnTo>
                <a:lnTo>
                  <a:pt x="161198" y="170611"/>
                </a:lnTo>
                <a:lnTo>
                  <a:pt x="179109" y="141849"/>
                </a:lnTo>
                <a:lnTo>
                  <a:pt x="197020" y="115193"/>
                </a:lnTo>
                <a:lnTo>
                  <a:pt x="214931" y="90043"/>
                </a:lnTo>
                <a:lnTo>
                  <a:pt x="232842" y="66050"/>
                </a:lnTo>
                <a:lnTo>
                  <a:pt x="250753" y="42988"/>
                </a:lnTo>
                <a:lnTo>
                  <a:pt x="268664" y="20700"/>
                </a:lnTo>
                <a:lnTo>
                  <a:pt x="286575" y="0"/>
                </a:lnTo>
                <a:lnTo>
                  <a:pt x="304486" y="13180"/>
                </a:lnTo>
                <a:lnTo>
                  <a:pt x="322397" y="25685"/>
                </a:lnTo>
                <a:lnTo>
                  <a:pt x="340308" y="37505"/>
                </a:lnTo>
                <a:lnTo>
                  <a:pt x="358219" y="48575"/>
                </a:lnTo>
                <a:lnTo>
                  <a:pt x="376130" y="58712"/>
                </a:lnTo>
                <a:lnTo>
                  <a:pt x="394041" y="67569"/>
                </a:lnTo>
                <a:lnTo>
                  <a:pt x="411952" y="74629"/>
                </a:lnTo>
                <a:lnTo>
                  <a:pt x="429863" y="79335"/>
                </a:lnTo>
                <a:lnTo>
                  <a:pt x="447774" y="81401"/>
                </a:lnTo>
                <a:lnTo>
                  <a:pt x="465685" y="81224"/>
                </a:lnTo>
                <a:lnTo>
                  <a:pt x="483595" y="80143"/>
                </a:lnTo>
                <a:lnTo>
                  <a:pt x="501506" y="80244"/>
                </a:lnTo>
                <a:lnTo>
                  <a:pt x="519417" y="83631"/>
                </a:lnTo>
                <a:lnTo>
                  <a:pt x="537328" y="91485"/>
                </a:lnTo>
                <a:lnTo>
                  <a:pt x="555239" y="103488"/>
                </a:lnTo>
                <a:lnTo>
                  <a:pt x="573150" y="117990"/>
                </a:lnTo>
                <a:lnTo>
                  <a:pt x="591061" y="132817"/>
                </a:lnTo>
                <a:lnTo>
                  <a:pt x="608972" y="146182"/>
                </a:lnTo>
                <a:lnTo>
                  <a:pt x="626883" y="157195"/>
                </a:lnTo>
                <a:lnTo>
                  <a:pt x="644794" y="165839"/>
                </a:lnTo>
                <a:lnTo>
                  <a:pt x="662705" y="172603"/>
                </a:lnTo>
                <a:lnTo>
                  <a:pt x="680616" y="178094"/>
                </a:lnTo>
                <a:lnTo>
                  <a:pt x="698527" y="182800"/>
                </a:lnTo>
                <a:lnTo>
                  <a:pt x="716438" y="187032"/>
                </a:lnTo>
                <a:lnTo>
                  <a:pt x="734349" y="190955"/>
                </a:lnTo>
                <a:lnTo>
                  <a:pt x="752260" y="194649"/>
                </a:lnTo>
                <a:lnTo>
                  <a:pt x="770171" y="198147"/>
                </a:lnTo>
                <a:lnTo>
                  <a:pt x="788082" y="201468"/>
                </a:lnTo>
                <a:lnTo>
                  <a:pt x="805992" y="204624"/>
                </a:lnTo>
                <a:lnTo>
                  <a:pt x="823903" y="207621"/>
                </a:lnTo>
                <a:lnTo>
                  <a:pt x="841814" y="210470"/>
                </a:lnTo>
                <a:lnTo>
                  <a:pt x="859725" y="213176"/>
                </a:lnTo>
                <a:lnTo>
                  <a:pt x="877636" y="215748"/>
                </a:lnTo>
                <a:lnTo>
                  <a:pt x="895547" y="218192"/>
                </a:lnTo>
                <a:lnTo>
                  <a:pt x="913458" y="220514"/>
                </a:lnTo>
                <a:lnTo>
                  <a:pt x="931369" y="222720"/>
                </a:lnTo>
                <a:lnTo>
                  <a:pt x="949280" y="224817"/>
                </a:lnTo>
                <a:lnTo>
                  <a:pt x="967191" y="226809"/>
                </a:lnTo>
                <a:lnTo>
                  <a:pt x="985102" y="228702"/>
                </a:lnTo>
                <a:lnTo>
                  <a:pt x="1003013" y="230501"/>
                </a:lnTo>
                <a:lnTo>
                  <a:pt x="1020924" y="232210"/>
                </a:lnTo>
                <a:lnTo>
                  <a:pt x="1038835" y="233833"/>
                </a:lnTo>
                <a:lnTo>
                  <a:pt x="1056746" y="235377"/>
                </a:lnTo>
                <a:lnTo>
                  <a:pt x="1074657" y="236843"/>
                </a:lnTo>
                <a:lnTo>
                  <a:pt x="1092568" y="238236"/>
                </a:lnTo>
                <a:lnTo>
                  <a:pt x="1110478" y="239560"/>
                </a:lnTo>
                <a:lnTo>
                  <a:pt x="1128389" y="240818"/>
                </a:lnTo>
                <a:lnTo>
                  <a:pt x="1146300" y="242013"/>
                </a:lnTo>
                <a:lnTo>
                  <a:pt x="1164211" y="243149"/>
                </a:lnTo>
                <a:lnTo>
                  <a:pt x="1182122" y="244228"/>
                </a:lnTo>
                <a:lnTo>
                  <a:pt x="1200033" y="245253"/>
                </a:lnTo>
                <a:lnTo>
                  <a:pt x="1217944" y="246227"/>
                </a:lnTo>
                <a:lnTo>
                  <a:pt x="1235855" y="247153"/>
                </a:lnTo>
                <a:lnTo>
                  <a:pt x="1253766" y="248033"/>
                </a:lnTo>
                <a:lnTo>
                  <a:pt x="1271677" y="248869"/>
                </a:lnTo>
                <a:lnTo>
                  <a:pt x="1289588" y="249663"/>
                </a:lnTo>
                <a:lnTo>
                  <a:pt x="1307499" y="250418"/>
                </a:lnTo>
                <a:lnTo>
                  <a:pt x="1325410" y="223196"/>
                </a:lnTo>
                <a:lnTo>
                  <a:pt x="1343321" y="187906"/>
                </a:lnTo>
                <a:lnTo>
                  <a:pt x="1361232" y="157511"/>
                </a:lnTo>
                <a:lnTo>
                  <a:pt x="1379143" y="129786"/>
                </a:lnTo>
                <a:lnTo>
                  <a:pt x="1397054" y="103854"/>
                </a:lnTo>
                <a:lnTo>
                  <a:pt x="1414965" y="79252"/>
                </a:lnTo>
                <a:lnTo>
                  <a:pt x="1432875" y="55695"/>
                </a:lnTo>
                <a:lnTo>
                  <a:pt x="1450786" y="32994"/>
                </a:lnTo>
                <a:lnTo>
                  <a:pt x="1468697" y="11012"/>
                </a:lnTo>
                <a:lnTo>
                  <a:pt x="1486608" y="5942"/>
                </a:lnTo>
                <a:lnTo>
                  <a:pt x="1504519" y="18821"/>
                </a:lnTo>
                <a:lnTo>
                  <a:pt x="1522430" y="31025"/>
                </a:lnTo>
                <a:lnTo>
                  <a:pt x="1540341" y="42525"/>
                </a:lnTo>
                <a:lnTo>
                  <a:pt x="1558252" y="53212"/>
                </a:lnTo>
                <a:lnTo>
                  <a:pt x="1576163" y="62834"/>
                </a:lnTo>
                <a:lnTo>
                  <a:pt x="1594074" y="70964"/>
                </a:lnTo>
                <a:lnTo>
                  <a:pt x="1611985" y="77039"/>
                </a:lnTo>
                <a:lnTo>
                  <a:pt x="1629896" y="80576"/>
                </a:lnTo>
                <a:lnTo>
                  <a:pt x="1647807" y="81542"/>
                </a:lnTo>
                <a:lnTo>
                  <a:pt x="1665718" y="80743"/>
                </a:lnTo>
                <a:lnTo>
                  <a:pt x="1683629" y="79907"/>
                </a:lnTo>
                <a:lnTo>
                  <a:pt x="1701540" y="81243"/>
                </a:lnTo>
                <a:lnTo>
                  <a:pt x="1719451" y="86552"/>
                </a:lnTo>
                <a:lnTo>
                  <a:pt x="1737361" y="96382"/>
                </a:lnTo>
                <a:lnTo>
                  <a:pt x="1755272" y="109753"/>
                </a:lnTo>
                <a:lnTo>
                  <a:pt x="1773183" y="124664"/>
                </a:lnTo>
                <a:lnTo>
                  <a:pt x="1791094" y="139013"/>
                </a:lnTo>
                <a:lnTo>
                  <a:pt x="1809005" y="151385"/>
                </a:lnTo>
                <a:lnTo>
                  <a:pt x="1826916" y="161307"/>
                </a:lnTo>
                <a:lnTo>
                  <a:pt x="1844827" y="169041"/>
                </a:lnTo>
                <a:lnTo>
                  <a:pt x="1862738" y="175168"/>
                </a:lnTo>
                <a:lnTo>
                  <a:pt x="1880649" y="180260"/>
                </a:lnTo>
                <a:lnTo>
                  <a:pt x="1898560" y="184727"/>
                </a:lnTo>
                <a:lnTo>
                  <a:pt x="1916471" y="188808"/>
                </a:lnTo>
                <a:lnTo>
                  <a:pt x="1934382" y="192623"/>
                </a:lnTo>
                <a:lnTo>
                  <a:pt x="1952293" y="196226"/>
                </a:lnTo>
                <a:lnTo>
                  <a:pt x="1970204" y="199644"/>
                </a:lnTo>
                <a:lnTo>
                  <a:pt x="1988115" y="202891"/>
                </a:lnTo>
                <a:lnTo>
                  <a:pt x="2006026" y="205975"/>
                </a:lnTo>
                <a:lnTo>
                  <a:pt x="2023937" y="208905"/>
                </a:lnTo>
                <a:lnTo>
                  <a:pt x="2041848" y="211690"/>
                </a:lnTo>
                <a:lnTo>
                  <a:pt x="2059758" y="214336"/>
                </a:lnTo>
                <a:lnTo>
                  <a:pt x="2077669" y="216850"/>
                </a:lnTo>
                <a:lnTo>
                  <a:pt x="2095580" y="219239"/>
                </a:lnTo>
                <a:lnTo>
                  <a:pt x="2113491" y="221509"/>
                </a:lnTo>
                <a:lnTo>
                  <a:pt x="2131402" y="223665"/>
                </a:lnTo>
                <a:lnTo>
                  <a:pt x="2149313" y="225715"/>
                </a:lnTo>
                <a:lnTo>
                  <a:pt x="2167224" y="227662"/>
                </a:lnTo>
                <a:lnTo>
                  <a:pt x="2185135" y="229513"/>
                </a:lnTo>
                <a:lnTo>
                  <a:pt x="2203046" y="231271"/>
                </a:lnTo>
                <a:lnTo>
                  <a:pt x="2220957" y="232942"/>
                </a:lnTo>
                <a:lnTo>
                  <a:pt x="2238868" y="234529"/>
                </a:lnTo>
                <a:lnTo>
                  <a:pt x="2256779" y="236037"/>
                </a:lnTo>
                <a:lnTo>
                  <a:pt x="2274690" y="237471"/>
                </a:lnTo>
                <a:lnTo>
                  <a:pt x="2292601" y="238833"/>
                </a:lnTo>
                <a:lnTo>
                  <a:pt x="2310512" y="240127"/>
                </a:lnTo>
                <a:lnTo>
                  <a:pt x="2328423" y="241356"/>
                </a:lnTo>
                <a:lnTo>
                  <a:pt x="2346334" y="242525"/>
                </a:lnTo>
                <a:lnTo>
                  <a:pt x="2364245" y="243635"/>
                </a:lnTo>
                <a:lnTo>
                  <a:pt x="2382155" y="244690"/>
                </a:lnTo>
                <a:lnTo>
                  <a:pt x="2400066" y="245692"/>
                </a:lnTo>
                <a:lnTo>
                  <a:pt x="2417977" y="246645"/>
                </a:lnTo>
                <a:lnTo>
                  <a:pt x="2435888" y="247550"/>
                </a:lnTo>
                <a:lnTo>
                  <a:pt x="2453799" y="248410"/>
                </a:lnTo>
                <a:lnTo>
                  <a:pt x="2471710" y="249227"/>
                </a:lnTo>
                <a:lnTo>
                  <a:pt x="2489621" y="250003"/>
                </a:lnTo>
                <a:lnTo>
                  <a:pt x="2507532" y="248124"/>
                </a:lnTo>
                <a:lnTo>
                  <a:pt x="2525443" y="206625"/>
                </a:lnTo>
                <a:lnTo>
                  <a:pt x="2543354" y="173980"/>
                </a:lnTo>
                <a:lnTo>
                  <a:pt x="2561265" y="144926"/>
                </a:lnTo>
                <a:lnTo>
                  <a:pt x="2579176" y="118073"/>
                </a:lnTo>
                <a:lnTo>
                  <a:pt x="2597087" y="92775"/>
                </a:lnTo>
                <a:lnTo>
                  <a:pt x="2614998" y="68666"/>
                </a:lnTo>
                <a:lnTo>
                  <a:pt x="2632909" y="45509"/>
                </a:lnTo>
                <a:lnTo>
                  <a:pt x="2650820" y="23142"/>
                </a:lnTo>
                <a:lnTo>
                  <a:pt x="2668731" y="1445"/>
                </a:lnTo>
                <a:lnTo>
                  <a:pt x="2686641" y="11749"/>
                </a:lnTo>
                <a:lnTo>
                  <a:pt x="2704552" y="24329"/>
                </a:lnTo>
                <a:lnTo>
                  <a:pt x="2722463" y="36227"/>
                </a:lnTo>
                <a:lnTo>
                  <a:pt x="2740374" y="47386"/>
                </a:lnTo>
                <a:lnTo>
                  <a:pt x="2758285" y="57641"/>
                </a:lnTo>
                <a:lnTo>
                  <a:pt x="2776196" y="66663"/>
                </a:lnTo>
                <a:lnTo>
                  <a:pt x="2794107" y="73952"/>
                </a:lnTo>
                <a:lnTo>
                  <a:pt x="2812018" y="78942"/>
                </a:lnTo>
                <a:lnTo>
                  <a:pt x="2829929" y="81297"/>
                </a:lnTo>
                <a:lnTo>
                  <a:pt x="2847840" y="81321"/>
                </a:lnTo>
                <a:lnTo>
                  <a:pt x="2865751" y="80247"/>
                </a:lnTo>
                <a:lnTo>
                  <a:pt x="2883662" y="80105"/>
                </a:lnTo>
                <a:lnTo>
                  <a:pt x="2901573" y="83044"/>
                </a:lnTo>
                <a:lnTo>
                  <a:pt x="2919484" y="90388"/>
                </a:lnTo>
                <a:lnTo>
                  <a:pt x="2937395" y="101992"/>
                </a:lnTo>
                <a:lnTo>
                  <a:pt x="2955306" y="116323"/>
                </a:lnTo>
                <a:lnTo>
                  <a:pt x="2973217" y="131216"/>
                </a:lnTo>
                <a:lnTo>
                  <a:pt x="2991128" y="144805"/>
                </a:lnTo>
                <a:lnTo>
                  <a:pt x="3009038" y="156094"/>
                </a:lnTo>
                <a:lnTo>
                  <a:pt x="3026949" y="164983"/>
                </a:lnTo>
                <a:lnTo>
                  <a:pt x="3044860" y="171925"/>
                </a:lnTo>
                <a:lnTo>
                  <a:pt x="3062771" y="177530"/>
                </a:lnTo>
                <a:lnTo>
                  <a:pt x="3080682" y="182305"/>
                </a:lnTo>
                <a:lnTo>
                  <a:pt x="3098593" y="186579"/>
                </a:lnTo>
                <a:lnTo>
                  <a:pt x="3116504" y="190532"/>
                </a:lnTo>
                <a:lnTo>
                  <a:pt x="3134415" y="194248"/>
                </a:lnTo>
                <a:lnTo>
                  <a:pt x="3152326" y="197768"/>
                </a:lnTo>
                <a:lnTo>
                  <a:pt x="3170237" y="201108"/>
                </a:lnTo>
                <a:lnTo>
                  <a:pt x="3188148" y="204281"/>
                </a:lnTo>
                <a:lnTo>
                  <a:pt x="3206059" y="207296"/>
                </a:lnTo>
                <a:lnTo>
                  <a:pt x="3223970" y="210160"/>
                </a:lnTo>
                <a:lnTo>
                  <a:pt x="3241881" y="212883"/>
                </a:lnTo>
                <a:lnTo>
                  <a:pt x="3259792" y="215469"/>
                </a:lnTo>
                <a:lnTo>
                  <a:pt x="3277703" y="217927"/>
                </a:lnTo>
                <a:lnTo>
                  <a:pt x="3295614" y="220262"/>
                </a:lnTo>
                <a:lnTo>
                  <a:pt x="3313524" y="222481"/>
                </a:lnTo>
                <a:lnTo>
                  <a:pt x="3331435" y="224589"/>
                </a:lnTo>
                <a:lnTo>
                  <a:pt x="3349346" y="226593"/>
                </a:lnTo>
                <a:lnTo>
                  <a:pt x="3367257" y="228496"/>
                </a:lnTo>
                <a:lnTo>
                  <a:pt x="3385168" y="230305"/>
                </a:lnTo>
                <a:lnTo>
                  <a:pt x="3403079" y="232024"/>
                </a:lnTo>
                <a:lnTo>
                  <a:pt x="3420990" y="233657"/>
                </a:lnTo>
                <a:lnTo>
                  <a:pt x="3438901" y="235209"/>
                </a:lnTo>
                <a:lnTo>
                  <a:pt x="3456812" y="236683"/>
                </a:lnTo>
                <a:lnTo>
                  <a:pt x="3474723" y="238085"/>
                </a:lnTo>
                <a:lnTo>
                  <a:pt x="3492634" y="239416"/>
                </a:lnTo>
                <a:lnTo>
                  <a:pt x="3510545" y="240681"/>
                </a:lnTo>
                <a:lnTo>
                  <a:pt x="3528456" y="241883"/>
                </a:lnTo>
                <a:lnTo>
                  <a:pt x="3546367" y="243025"/>
                </a:lnTo>
                <a:lnTo>
                  <a:pt x="3564278" y="244110"/>
                </a:lnTo>
                <a:lnTo>
                  <a:pt x="3582189" y="245142"/>
                </a:lnTo>
                <a:lnTo>
                  <a:pt x="3600100" y="246122"/>
                </a:lnTo>
                <a:lnTo>
                  <a:pt x="3618011" y="247053"/>
                </a:lnTo>
                <a:lnTo>
                  <a:pt x="3635921" y="247937"/>
                </a:lnTo>
                <a:lnTo>
                  <a:pt x="3653832" y="248778"/>
                </a:lnTo>
                <a:lnTo>
                  <a:pt x="3671743" y="249577"/>
                </a:lnTo>
                <a:lnTo>
                  <a:pt x="3689654" y="250336"/>
                </a:lnTo>
                <a:lnTo>
                  <a:pt x="3707565" y="227675"/>
                </a:lnTo>
                <a:lnTo>
                  <a:pt x="3725476" y="191518"/>
                </a:lnTo>
                <a:lnTo>
                  <a:pt x="3743387" y="160734"/>
                </a:lnTo>
                <a:lnTo>
                  <a:pt x="3761298" y="132767"/>
                </a:lnTo>
                <a:lnTo>
                  <a:pt x="3779209" y="106663"/>
                </a:lnTo>
                <a:lnTo>
                  <a:pt x="3797120" y="81930"/>
                </a:lnTo>
                <a:lnTo>
                  <a:pt x="3815031" y="58268"/>
                </a:lnTo>
                <a:lnTo>
                  <a:pt x="3832942" y="35479"/>
                </a:lnTo>
                <a:lnTo>
                  <a:pt x="3850853" y="13422"/>
                </a:lnTo>
                <a:lnTo>
                  <a:pt x="3868764" y="4469"/>
                </a:lnTo>
                <a:lnTo>
                  <a:pt x="3886675" y="17423"/>
                </a:lnTo>
                <a:lnTo>
                  <a:pt x="3904586" y="29703"/>
                </a:lnTo>
                <a:lnTo>
                  <a:pt x="3922497" y="41285"/>
                </a:lnTo>
                <a:lnTo>
                  <a:pt x="3940408" y="52071"/>
                </a:lnTo>
                <a:lnTo>
                  <a:pt x="3958318" y="61829"/>
                </a:lnTo>
                <a:lnTo>
                  <a:pt x="3976229" y="70151"/>
                </a:lnTo>
                <a:lnTo>
                  <a:pt x="3994140" y="76483"/>
                </a:lnTo>
                <a:lnTo>
                  <a:pt x="4012051" y="80315"/>
                </a:lnTo>
                <a:lnTo>
                  <a:pt x="4029962" y="81545"/>
                </a:lnTo>
                <a:lnTo>
                  <a:pt x="4047873" y="80872"/>
                </a:lnTo>
                <a:lnTo>
                  <a:pt x="4065784" y="79933"/>
                </a:lnTo>
                <a:lnTo>
                  <a:pt x="4083695" y="80923"/>
                </a:lnTo>
                <a:lnTo>
                  <a:pt x="4101606" y="85736"/>
                </a:lnTo>
                <a:lnTo>
                  <a:pt x="4119517" y="95085"/>
                </a:lnTo>
                <a:lnTo>
                  <a:pt x="4137428" y="108150"/>
                </a:lnTo>
                <a:lnTo>
                  <a:pt x="4155339" y="123000"/>
                </a:lnTo>
                <a:lnTo>
                  <a:pt x="4173250" y="137499"/>
                </a:lnTo>
                <a:lnTo>
                  <a:pt x="4191161" y="150130"/>
                </a:lnTo>
                <a:lnTo>
                  <a:pt x="4209072" y="160322"/>
                </a:lnTo>
                <a:lnTo>
                  <a:pt x="4226983" y="168272"/>
                </a:lnTo>
                <a:lnTo>
                  <a:pt x="4244894" y="174547"/>
                </a:lnTo>
                <a:lnTo>
                  <a:pt x="4262804" y="179731"/>
                </a:lnTo>
                <a:lnTo>
                  <a:pt x="4280715" y="184253"/>
                </a:lnTo>
                <a:lnTo>
                  <a:pt x="4298626" y="188369"/>
                </a:lnTo>
                <a:lnTo>
                  <a:pt x="4316537" y="192210"/>
                </a:lnTo>
                <a:lnTo>
                  <a:pt x="4334448" y="195835"/>
                </a:lnTo>
                <a:lnTo>
                  <a:pt x="4352359" y="199273"/>
                </a:lnTo>
                <a:lnTo>
                  <a:pt x="4370270" y="202538"/>
                </a:lnTo>
                <a:lnTo>
                  <a:pt x="4388181" y="205640"/>
                </a:lnTo>
                <a:lnTo>
                  <a:pt x="4406092" y="208587"/>
                </a:lnTo>
                <a:lnTo>
                  <a:pt x="4424003" y="211387"/>
                </a:lnTo>
                <a:lnTo>
                  <a:pt x="4441914" y="214048"/>
                </a:lnTo>
                <a:lnTo>
                  <a:pt x="4459825" y="216577"/>
                </a:lnTo>
                <a:lnTo>
                  <a:pt x="4477736" y="218979"/>
                </a:lnTo>
                <a:lnTo>
                  <a:pt x="4495647" y="221262"/>
                </a:lnTo>
                <a:lnTo>
                  <a:pt x="4513558" y="223431"/>
                </a:lnTo>
                <a:lnTo>
                  <a:pt x="4531469" y="225492"/>
                </a:lnTo>
                <a:lnTo>
                  <a:pt x="4549380" y="227451"/>
                </a:lnTo>
                <a:lnTo>
                  <a:pt x="4567291" y="229312"/>
                </a:lnTo>
                <a:lnTo>
                  <a:pt x="4585201" y="231080"/>
                </a:lnTo>
                <a:lnTo>
                  <a:pt x="4603112" y="232760"/>
                </a:lnTo>
                <a:lnTo>
                  <a:pt x="4621023" y="234357"/>
                </a:lnTo>
                <a:lnTo>
                  <a:pt x="4638934" y="235874"/>
                </a:lnTo>
                <a:lnTo>
                  <a:pt x="4656845" y="237315"/>
                </a:lnTo>
                <a:lnTo>
                  <a:pt x="4674756" y="238685"/>
                </a:lnTo>
                <a:lnTo>
                  <a:pt x="4692667" y="239986"/>
                </a:lnTo>
                <a:lnTo>
                  <a:pt x="4710578" y="241223"/>
                </a:lnTo>
                <a:lnTo>
                  <a:pt x="4728489" y="242398"/>
                </a:lnTo>
                <a:lnTo>
                  <a:pt x="4746400" y="243514"/>
                </a:lnTo>
                <a:lnTo>
                  <a:pt x="4764311" y="244575"/>
                </a:lnTo>
                <a:lnTo>
                  <a:pt x="4782222" y="245583"/>
                </a:lnTo>
                <a:lnTo>
                  <a:pt x="4800133" y="246541"/>
                </a:lnTo>
                <a:lnTo>
                  <a:pt x="4818044" y="247451"/>
                </a:lnTo>
                <a:lnTo>
                  <a:pt x="4835955" y="248316"/>
                </a:lnTo>
                <a:lnTo>
                  <a:pt x="4853866" y="249138"/>
                </a:lnTo>
                <a:lnTo>
                  <a:pt x="4871777" y="249919"/>
                </a:lnTo>
                <a:lnTo>
                  <a:pt x="4889688" y="254539"/>
                </a:lnTo>
                <a:lnTo>
                  <a:pt x="4907598" y="210603"/>
                </a:lnTo>
                <a:lnTo>
                  <a:pt x="4925509" y="177390"/>
                </a:lnTo>
                <a:lnTo>
                  <a:pt x="4943420" y="148029"/>
                </a:lnTo>
                <a:lnTo>
                  <a:pt x="4961331" y="120971"/>
                </a:lnTo>
                <a:lnTo>
                  <a:pt x="4979242" y="95522"/>
                </a:lnTo>
                <a:lnTo>
                  <a:pt x="4997153" y="71294"/>
                </a:lnTo>
                <a:lnTo>
                  <a:pt x="5015064" y="48041"/>
                </a:lnTo>
                <a:lnTo>
                  <a:pt x="5032975" y="25592"/>
                </a:lnTo>
                <a:lnTo>
                  <a:pt x="5050886" y="3826"/>
                </a:lnTo>
                <a:lnTo>
                  <a:pt x="5068797" y="10310"/>
                </a:lnTo>
                <a:lnTo>
                  <a:pt x="5086708" y="22964"/>
                </a:lnTo>
                <a:lnTo>
                  <a:pt x="5104619" y="34940"/>
                </a:lnTo>
                <a:lnTo>
                  <a:pt x="5122530" y="46187"/>
                </a:lnTo>
                <a:lnTo>
                  <a:pt x="5140441" y="56555"/>
                </a:lnTo>
                <a:lnTo>
                  <a:pt x="5158352" y="65736"/>
                </a:lnTo>
                <a:lnTo>
                  <a:pt x="5176263" y="73246"/>
                </a:lnTo>
                <a:lnTo>
                  <a:pt x="5194174" y="78515"/>
                </a:lnTo>
                <a:lnTo>
                  <a:pt x="5212084" y="81164"/>
                </a:lnTo>
                <a:lnTo>
                  <a:pt x="5229995" y="81404"/>
                </a:lnTo>
                <a:lnTo>
                  <a:pt x="5247906" y="80362"/>
                </a:lnTo>
                <a:lnTo>
                  <a:pt x="5265817" y="80004"/>
                </a:lnTo>
                <a:lnTo>
                  <a:pt x="5283728" y="82512"/>
                </a:lnTo>
                <a:lnTo>
                  <a:pt x="5301639" y="89345"/>
                </a:lnTo>
                <a:lnTo>
                  <a:pt x="5319550" y="100531"/>
                </a:lnTo>
                <a:lnTo>
                  <a:pt x="5337461" y="114663"/>
                </a:lnTo>
                <a:lnTo>
                  <a:pt x="5355372" y="129598"/>
                </a:lnTo>
                <a:lnTo>
                  <a:pt x="5373283" y="143399"/>
                </a:lnTo>
                <a:lnTo>
                  <a:pt x="5391194" y="154962"/>
                </a:lnTo>
                <a:lnTo>
                  <a:pt x="5409105" y="164102"/>
                </a:lnTo>
                <a:lnTo>
                  <a:pt x="5427016" y="171231"/>
                </a:lnTo>
                <a:lnTo>
                  <a:pt x="5444927" y="176956"/>
                </a:lnTo>
                <a:lnTo>
                  <a:pt x="5462838" y="181803"/>
                </a:lnTo>
                <a:lnTo>
                  <a:pt x="5480749" y="186122"/>
                </a:lnTo>
                <a:lnTo>
                  <a:pt x="5498660" y="190105"/>
                </a:lnTo>
                <a:lnTo>
                  <a:pt x="5516571" y="193846"/>
                </a:lnTo>
                <a:lnTo>
                  <a:pt x="5534481" y="197386"/>
                </a:lnTo>
                <a:lnTo>
                  <a:pt x="5552392" y="200745"/>
                </a:lnTo>
                <a:lnTo>
                  <a:pt x="5570303" y="203936"/>
                </a:lnTo>
                <a:lnTo>
                  <a:pt x="5588214" y="206968"/>
                </a:lnTo>
                <a:lnTo>
                  <a:pt x="5606125" y="209849"/>
                </a:lnTo>
                <a:lnTo>
                  <a:pt x="5624036" y="212587"/>
                </a:lnTo>
                <a:lnTo>
                  <a:pt x="5641947" y="215188"/>
                </a:lnTo>
                <a:lnTo>
                  <a:pt x="5659858" y="217660"/>
                </a:lnTo>
                <a:lnTo>
                  <a:pt x="5677769" y="220008"/>
                </a:lnTo>
                <a:lnTo>
                  <a:pt x="5695680" y="222240"/>
                </a:lnTo>
                <a:lnTo>
                  <a:pt x="5713591" y="224360"/>
                </a:lnTo>
                <a:lnTo>
                  <a:pt x="5731502" y="226375"/>
                </a:lnTo>
                <a:lnTo>
                  <a:pt x="5749413" y="228290"/>
                </a:lnTo>
                <a:lnTo>
                  <a:pt x="5767324" y="230109"/>
                </a:lnTo>
                <a:lnTo>
                  <a:pt x="5785235" y="231837"/>
                </a:lnTo>
                <a:lnTo>
                  <a:pt x="5803146" y="233480"/>
                </a:lnTo>
                <a:lnTo>
                  <a:pt x="5821057" y="235040"/>
                </a:lnTo>
                <a:lnTo>
                  <a:pt x="5838967" y="236523"/>
                </a:lnTo>
                <a:lnTo>
                  <a:pt x="5856878" y="237932"/>
                </a:lnTo>
                <a:lnTo>
                  <a:pt x="5874789" y="239271"/>
                </a:lnTo>
                <a:lnTo>
                  <a:pt x="5892700" y="240544"/>
                </a:lnTo>
                <a:lnTo>
                  <a:pt x="5910611" y="241752"/>
                </a:lnTo>
                <a:lnTo>
                  <a:pt x="5928522" y="242901"/>
                </a:lnTo>
                <a:lnTo>
                  <a:pt x="5946433" y="243993"/>
                </a:lnTo>
                <a:lnTo>
                  <a:pt x="5964344" y="245030"/>
                </a:lnTo>
                <a:lnTo>
                  <a:pt x="5982255" y="246015"/>
                </a:lnTo>
                <a:lnTo>
                  <a:pt x="6000166" y="246952"/>
                </a:lnTo>
                <a:lnTo>
                  <a:pt x="6018077" y="247841"/>
                </a:lnTo>
                <a:lnTo>
                  <a:pt x="6035988" y="248687"/>
                </a:lnTo>
                <a:lnTo>
                  <a:pt x="6053899" y="249490"/>
                </a:lnTo>
                <a:lnTo>
                  <a:pt x="6071810" y="250253"/>
                </a:lnTo>
                <a:lnTo>
                  <a:pt x="6089721" y="232342"/>
                </a:lnTo>
                <a:lnTo>
                  <a:pt x="6107632" y="195189"/>
                </a:lnTo>
                <a:lnTo>
                  <a:pt x="6125543" y="163990"/>
                </a:lnTo>
                <a:lnTo>
                  <a:pt x="6143454" y="135770"/>
                </a:lnTo>
                <a:lnTo>
                  <a:pt x="6161364" y="109489"/>
                </a:lnTo>
                <a:lnTo>
                  <a:pt x="6179275" y="84620"/>
                </a:lnTo>
                <a:lnTo>
                  <a:pt x="6197186" y="60851"/>
                </a:lnTo>
                <a:lnTo>
                  <a:pt x="6215097" y="37972"/>
                </a:lnTo>
                <a:lnTo>
                  <a:pt x="6233008" y="15840"/>
                </a:lnTo>
                <a:lnTo>
                  <a:pt x="6250919" y="2988"/>
                </a:lnTo>
                <a:lnTo>
                  <a:pt x="6268830" y="16017"/>
                </a:lnTo>
                <a:lnTo>
                  <a:pt x="6286741" y="28372"/>
                </a:lnTo>
                <a:lnTo>
                  <a:pt x="6304652" y="40034"/>
                </a:lnTo>
                <a:lnTo>
                  <a:pt x="6322563" y="50917"/>
                </a:lnTo>
                <a:lnTo>
                  <a:pt x="6340474" y="60807"/>
                </a:lnTo>
                <a:lnTo>
                  <a:pt x="6358385" y="69314"/>
                </a:lnTo>
                <a:lnTo>
                  <a:pt x="6376296" y="75896"/>
                </a:lnTo>
                <a:lnTo>
                  <a:pt x="6394207" y="80022"/>
                </a:lnTo>
                <a:lnTo>
                  <a:pt x="6412118" y="81524"/>
                </a:lnTo>
                <a:lnTo>
                  <a:pt x="6430029" y="80997"/>
                </a:lnTo>
                <a:lnTo>
                  <a:pt x="6447940" y="79983"/>
                </a:lnTo>
                <a:lnTo>
                  <a:pt x="6465851" y="80651"/>
                </a:lnTo>
                <a:lnTo>
                  <a:pt x="6483761" y="84976"/>
                </a:lnTo>
                <a:lnTo>
                  <a:pt x="6501672" y="93835"/>
                </a:lnTo>
                <a:lnTo>
                  <a:pt x="6519583" y="106570"/>
                </a:lnTo>
                <a:lnTo>
                  <a:pt x="6537494" y="121331"/>
                </a:lnTo>
                <a:lnTo>
                  <a:pt x="6555405" y="135961"/>
                </a:lnTo>
                <a:lnTo>
                  <a:pt x="6573316" y="148845"/>
                </a:lnTo>
                <a:lnTo>
                  <a:pt x="6591227" y="159308"/>
                </a:lnTo>
                <a:lnTo>
                  <a:pt x="6609138" y="167483"/>
                </a:lnTo>
                <a:lnTo>
                  <a:pt x="6627049" y="173914"/>
                </a:lnTo>
                <a:lnTo>
                  <a:pt x="6644960" y="179194"/>
                </a:lnTo>
                <a:lnTo>
                  <a:pt x="6662871" y="183774"/>
                </a:lnTo>
                <a:lnTo>
                  <a:pt x="6680782" y="187927"/>
                </a:lnTo>
                <a:lnTo>
                  <a:pt x="6698693" y="191794"/>
                </a:lnTo>
                <a:lnTo>
                  <a:pt x="6716604" y="195442"/>
                </a:lnTo>
                <a:lnTo>
                  <a:pt x="6734515" y="198900"/>
                </a:lnTo>
                <a:lnTo>
                  <a:pt x="6752426" y="202184"/>
                </a:lnTo>
                <a:lnTo>
                  <a:pt x="6770337" y="205303"/>
                </a:lnTo>
                <a:lnTo>
                  <a:pt x="6788247" y="208267"/>
                </a:lnTo>
                <a:lnTo>
                  <a:pt x="6806158" y="211083"/>
                </a:lnTo>
                <a:lnTo>
                  <a:pt x="6824069" y="213759"/>
                </a:lnTo>
                <a:lnTo>
                  <a:pt x="6841980" y="216302"/>
                </a:lnTo>
                <a:lnTo>
                  <a:pt x="6859891" y="218718"/>
                </a:lnTo>
                <a:lnTo>
                  <a:pt x="6877802" y="221014"/>
                </a:lnTo>
                <a:lnTo>
                  <a:pt x="6895713" y="223196"/>
                </a:lnTo>
                <a:lnTo>
                  <a:pt x="6913624" y="225268"/>
                </a:lnTo>
                <a:lnTo>
                  <a:pt x="6931535" y="227238"/>
                </a:lnTo>
                <a:lnTo>
                  <a:pt x="6949446" y="229110"/>
                </a:lnTo>
                <a:lnTo>
                  <a:pt x="6967357" y="230888"/>
                </a:lnTo>
                <a:lnTo>
                  <a:pt x="6985268" y="232578"/>
                </a:lnTo>
                <a:lnTo>
                  <a:pt x="7003179" y="234183"/>
                </a:lnTo>
                <a:lnTo>
                  <a:pt x="7021090" y="235709"/>
                </a:lnTo>
                <a:lnTo>
                  <a:pt x="7039001" y="237159"/>
                </a:lnTo>
                <a:lnTo>
                  <a:pt x="7056912" y="238536"/>
                </a:lnTo>
                <a:lnTo>
                  <a:pt x="7074823" y="239845"/>
                </a:lnTo>
                <a:lnTo>
                  <a:pt x="7092734" y="241088"/>
                </a:lnTo>
                <a:lnTo>
                  <a:pt x="7110644" y="242270"/>
                </a:lnTo>
                <a:lnTo>
                  <a:pt x="7128555" y="243393"/>
                </a:lnTo>
                <a:lnTo>
                  <a:pt x="7146466" y="244460"/>
                </a:lnTo>
                <a:lnTo>
                  <a:pt x="7164377" y="245474"/>
                </a:lnTo>
                <a:lnTo>
                  <a:pt x="7182288" y="246437"/>
                </a:lnTo>
                <a:lnTo>
                  <a:pt x="7200199" y="247353"/>
                </a:lnTo>
                <a:lnTo>
                  <a:pt x="7218110" y="248222"/>
                </a:lnTo>
                <a:lnTo>
                  <a:pt x="7236021" y="249049"/>
                </a:lnTo>
                <a:lnTo>
                  <a:pt x="7253932" y="249834"/>
                </a:lnTo>
                <a:lnTo>
                  <a:pt x="7271843" y="263115"/>
                </a:lnTo>
                <a:lnTo>
                  <a:pt x="7289754" y="214681"/>
                </a:lnTo>
                <a:lnTo>
                  <a:pt x="7307665" y="180846"/>
                </a:lnTo>
                <a:lnTo>
                  <a:pt x="7325576" y="151160"/>
                </a:lnTo>
                <a:lnTo>
                  <a:pt x="7343487" y="123889"/>
                </a:lnTo>
                <a:lnTo>
                  <a:pt x="7361398" y="98284"/>
                </a:lnTo>
                <a:lnTo>
                  <a:pt x="7379309" y="73935"/>
                </a:lnTo>
                <a:lnTo>
                  <a:pt x="7397220" y="50582"/>
                </a:lnTo>
                <a:lnTo>
                  <a:pt x="7415131" y="28051"/>
                </a:lnTo>
                <a:lnTo>
                  <a:pt x="7433041" y="6214"/>
                </a:lnTo>
                <a:lnTo>
                  <a:pt x="7450952" y="8863"/>
                </a:lnTo>
                <a:lnTo>
                  <a:pt x="7468863" y="21591"/>
                </a:lnTo>
                <a:lnTo>
                  <a:pt x="7486774" y="33644"/>
                </a:lnTo>
                <a:lnTo>
                  <a:pt x="7504685" y="44977"/>
                </a:lnTo>
                <a:lnTo>
                  <a:pt x="7522596" y="55454"/>
                </a:lnTo>
                <a:lnTo>
                  <a:pt x="7540507" y="64788"/>
                </a:lnTo>
                <a:lnTo>
                  <a:pt x="7558418" y="72512"/>
                </a:lnTo>
                <a:lnTo>
                  <a:pt x="7576329" y="78056"/>
                </a:lnTo>
                <a:lnTo>
                  <a:pt x="7594240" y="81000"/>
                </a:lnTo>
                <a:lnTo>
                  <a:pt x="7612151" y="81469"/>
                </a:lnTo>
                <a:lnTo>
                  <a:pt x="7630062" y="80485"/>
                </a:lnTo>
                <a:lnTo>
                  <a:pt x="7647973" y="79939"/>
                </a:lnTo>
                <a:lnTo>
                  <a:pt x="7665884" y="82036"/>
                </a:lnTo>
                <a:lnTo>
                  <a:pt x="7683795" y="88358"/>
                </a:lnTo>
                <a:lnTo>
                  <a:pt x="7701706" y="99107"/>
                </a:lnTo>
                <a:lnTo>
                  <a:pt x="7719617" y="113013"/>
                </a:lnTo>
                <a:lnTo>
                  <a:pt x="7737527" y="127965"/>
                </a:lnTo>
                <a:lnTo>
                  <a:pt x="7755438" y="141965"/>
                </a:lnTo>
                <a:lnTo>
                  <a:pt x="7773349" y="153801"/>
                </a:lnTo>
                <a:lnTo>
                  <a:pt x="7791260" y="163196"/>
                </a:lnTo>
                <a:lnTo>
                  <a:pt x="7809171" y="170519"/>
                </a:lnTo>
                <a:lnTo>
                  <a:pt x="7827082" y="176371"/>
                </a:lnTo>
                <a:lnTo>
                  <a:pt x="7844993" y="181296"/>
                </a:lnTo>
                <a:lnTo>
                  <a:pt x="7862904" y="185661"/>
                </a:lnTo>
                <a:lnTo>
                  <a:pt x="7880815" y="189676"/>
                </a:lnTo>
                <a:lnTo>
                  <a:pt x="7898726" y="193440"/>
                </a:lnTo>
                <a:lnTo>
                  <a:pt x="7916637" y="197001"/>
                </a:lnTo>
                <a:lnTo>
                  <a:pt x="7934548" y="200380"/>
                </a:lnTo>
                <a:lnTo>
                  <a:pt x="7952459" y="203590"/>
                </a:lnTo>
                <a:lnTo>
                  <a:pt x="7970370" y="206639"/>
                </a:lnTo>
                <a:lnTo>
                  <a:pt x="7988281" y="209536"/>
                </a:lnTo>
                <a:lnTo>
                  <a:pt x="8006192" y="212290"/>
                </a:lnTo>
                <a:lnTo>
                  <a:pt x="8024103" y="214906"/>
                </a:lnTo>
                <a:lnTo>
                  <a:pt x="8042014" y="217391"/>
                </a:lnTo>
                <a:lnTo>
                  <a:pt x="8059924" y="219753"/>
                </a:lnTo>
                <a:lnTo>
                  <a:pt x="8077835" y="221997"/>
                </a:lnTo>
                <a:lnTo>
                  <a:pt x="8095746" y="224130"/>
                </a:lnTo>
                <a:lnTo>
                  <a:pt x="8113657" y="226156"/>
                </a:lnTo>
                <a:lnTo>
                  <a:pt x="8131568" y="228082"/>
                </a:lnTo>
                <a:lnTo>
                  <a:pt x="8149479" y="229911"/>
                </a:lnTo>
                <a:lnTo>
                  <a:pt x="8167390" y="231650"/>
                </a:lnTo>
                <a:lnTo>
                  <a:pt x="8185301" y="233301"/>
                </a:lnTo>
                <a:lnTo>
                  <a:pt x="8203212" y="234871"/>
                </a:lnTo>
                <a:lnTo>
                  <a:pt x="8221123" y="236362"/>
                </a:lnTo>
                <a:lnTo>
                  <a:pt x="8239034" y="237779"/>
                </a:lnTo>
                <a:lnTo>
                  <a:pt x="8256945" y="239126"/>
                </a:lnTo>
                <a:lnTo>
                  <a:pt x="8274856" y="240405"/>
                </a:lnTo>
                <a:lnTo>
                  <a:pt x="8292767" y="241621"/>
                </a:lnTo>
                <a:lnTo>
                  <a:pt x="8310678" y="242776"/>
                </a:lnTo>
                <a:lnTo>
                  <a:pt x="8328589" y="243874"/>
                </a:lnTo>
                <a:lnTo>
                  <a:pt x="8346500" y="244917"/>
                </a:lnTo>
                <a:lnTo>
                  <a:pt x="8364410" y="245908"/>
                </a:lnTo>
                <a:lnTo>
                  <a:pt x="8382321" y="246850"/>
                </a:lnTo>
                <a:lnTo>
                  <a:pt x="8400232" y="247745"/>
                </a:lnTo>
                <a:lnTo>
                  <a:pt x="8418143" y="248595"/>
                </a:lnTo>
                <a:lnTo>
                  <a:pt x="8436054" y="249403"/>
                </a:lnTo>
                <a:lnTo>
                  <a:pt x="8453965" y="250170"/>
                </a:lnTo>
                <a:lnTo>
                  <a:pt x="8471876" y="237246"/>
                </a:lnTo>
                <a:lnTo>
                  <a:pt x="8489787" y="198927"/>
                </a:lnTo>
                <a:lnTo>
                  <a:pt x="8507698" y="167282"/>
                </a:lnTo>
                <a:lnTo>
                  <a:pt x="8525609" y="138797"/>
                </a:lnTo>
                <a:lnTo>
                  <a:pt x="8543520" y="112332"/>
                </a:lnTo>
                <a:lnTo>
                  <a:pt x="8561431" y="87325"/>
                </a:lnTo>
                <a:lnTo>
                  <a:pt x="8579342" y="63444"/>
                </a:lnTo>
                <a:lnTo>
                  <a:pt x="8597253" y="40475"/>
                </a:lnTo>
                <a:lnTo>
                  <a:pt x="8615164" y="18266"/>
                </a:lnTo>
                <a:lnTo>
                  <a:pt x="8633075" y="1498"/>
                </a:lnTo>
                <a:lnTo>
                  <a:pt x="8650986" y="14603"/>
                </a:lnTo>
                <a:lnTo>
                  <a:pt x="8668897" y="27032"/>
                </a:lnTo>
                <a:lnTo>
                  <a:pt x="8686807" y="38775"/>
                </a:lnTo>
                <a:lnTo>
                  <a:pt x="8704718" y="49752"/>
                </a:lnTo>
                <a:lnTo>
                  <a:pt x="8722629" y="59767"/>
                </a:lnTo>
                <a:lnTo>
                  <a:pt x="8740540" y="68453"/>
                </a:lnTo>
                <a:lnTo>
                  <a:pt x="8758451" y="75278"/>
                </a:lnTo>
                <a:lnTo>
                  <a:pt x="8776362" y="79695"/>
                </a:lnTo>
                <a:lnTo>
                  <a:pt x="8794273" y="81476"/>
                </a:lnTo>
                <a:lnTo>
                  <a:pt x="8812184" y="81115"/>
                </a:lnTo>
                <a:lnTo>
                  <a:pt x="8830095" y="80055"/>
                </a:lnTo>
                <a:lnTo>
                  <a:pt x="8848006" y="80426"/>
                </a:lnTo>
                <a:lnTo>
                  <a:pt x="8865917" y="84275"/>
                </a:lnTo>
                <a:lnTo>
                  <a:pt x="8883828" y="92635"/>
                </a:lnTo>
                <a:lnTo>
                  <a:pt x="8901739" y="105014"/>
                </a:lnTo>
                <a:lnTo>
                  <a:pt x="8919650" y="119660"/>
                </a:lnTo>
                <a:lnTo>
                  <a:pt x="8937561" y="134399"/>
                </a:lnTo>
                <a:lnTo>
                  <a:pt x="8955472" y="147528"/>
                </a:lnTo>
                <a:lnTo>
                  <a:pt x="8973383" y="158266"/>
                </a:lnTo>
                <a:lnTo>
                  <a:pt x="8991294" y="166672"/>
                </a:lnTo>
                <a:lnTo>
                  <a:pt x="9009204" y="173266"/>
                </a:lnTo>
                <a:lnTo>
                  <a:pt x="9027115" y="178648"/>
                </a:lnTo>
                <a:lnTo>
                  <a:pt x="9045026" y="183289"/>
                </a:lnTo>
                <a:lnTo>
                  <a:pt x="9062937" y="187481"/>
                </a:lnTo>
                <a:lnTo>
                  <a:pt x="9080848" y="191376"/>
                </a:lnTo>
                <a:lnTo>
                  <a:pt x="9098759" y="195047"/>
                </a:lnTo>
                <a:lnTo>
                  <a:pt x="9116670" y="198525"/>
                </a:lnTo>
                <a:lnTo>
                  <a:pt x="9134581" y="201827"/>
                </a:lnTo>
                <a:lnTo>
                  <a:pt x="9152492" y="204964"/>
                </a:lnTo>
                <a:lnTo>
                  <a:pt x="9170403" y="207945"/>
                </a:lnTo>
                <a:lnTo>
                  <a:pt x="9188314" y="210777"/>
                </a:lnTo>
                <a:lnTo>
                  <a:pt x="9206225" y="213469"/>
                </a:lnTo>
                <a:lnTo>
                  <a:pt x="9224136" y="216026"/>
                </a:lnTo>
                <a:lnTo>
                  <a:pt x="9242047" y="218456"/>
                </a:lnTo>
                <a:lnTo>
                  <a:pt x="9259958" y="220765"/>
                </a:lnTo>
                <a:lnTo>
                  <a:pt x="9277869" y="222959"/>
                </a:lnTo>
                <a:lnTo>
                  <a:pt x="9295780" y="225043"/>
                </a:lnTo>
                <a:lnTo>
                  <a:pt x="9313690" y="227024"/>
                </a:lnTo>
                <a:lnTo>
                  <a:pt x="9331601" y="228906"/>
                </a:lnTo>
                <a:lnTo>
                  <a:pt x="9349512" y="230695"/>
                </a:lnTo>
                <a:lnTo>
                  <a:pt x="9367423" y="232394"/>
                </a:lnTo>
                <a:lnTo>
                  <a:pt x="9385334" y="234009"/>
                </a:lnTo>
                <a:lnTo>
                  <a:pt x="9403245" y="235543"/>
                </a:lnTo>
                <a:lnTo>
                  <a:pt x="9421156" y="237001"/>
                </a:lnTo>
                <a:lnTo>
                  <a:pt x="9439067" y="238386"/>
                </a:lnTo>
                <a:lnTo>
                  <a:pt x="9456978" y="239703"/>
                </a:lnTo>
                <a:lnTo>
                  <a:pt x="9474889" y="240953"/>
                </a:lnTo>
                <a:lnTo>
                  <a:pt x="9492800" y="242142"/>
                </a:lnTo>
                <a:lnTo>
                  <a:pt x="9510711" y="243271"/>
                </a:lnTo>
                <a:lnTo>
                  <a:pt x="9528622" y="244344"/>
                </a:lnTo>
                <a:lnTo>
                  <a:pt x="9546533" y="245364"/>
                </a:lnTo>
                <a:lnTo>
                  <a:pt x="9564444" y="246333"/>
                </a:lnTo>
                <a:lnTo>
                  <a:pt x="9582355" y="247253"/>
                </a:lnTo>
                <a:lnTo>
                  <a:pt x="9600266" y="248128"/>
                </a:lnTo>
                <a:lnTo>
                  <a:pt x="9618177" y="248959"/>
                </a:lnTo>
                <a:lnTo>
                  <a:pt x="9636087" y="249749"/>
                </a:lnTo>
                <a:lnTo>
                  <a:pt x="9653998" y="250499"/>
                </a:lnTo>
                <a:lnTo>
                  <a:pt x="9671909" y="218873"/>
                </a:lnTo>
                <a:lnTo>
                  <a:pt x="9689820" y="184350"/>
                </a:lnTo>
                <a:lnTo>
                  <a:pt x="9707731" y="154321"/>
                </a:lnTo>
                <a:lnTo>
                  <a:pt x="9725642" y="126827"/>
                </a:lnTo>
                <a:lnTo>
                  <a:pt x="9743553" y="101061"/>
                </a:lnTo>
                <a:lnTo>
                  <a:pt x="9761464" y="76587"/>
                </a:lnTo>
                <a:lnTo>
                  <a:pt x="9779375" y="53134"/>
                </a:lnTo>
                <a:lnTo>
                  <a:pt x="9797286" y="30518"/>
                </a:lnTo>
                <a:lnTo>
                  <a:pt x="9815197" y="8609"/>
                </a:lnTo>
                <a:lnTo>
                  <a:pt x="9833108" y="7407"/>
                </a:lnTo>
                <a:lnTo>
                  <a:pt x="9851019" y="20210"/>
                </a:lnTo>
                <a:lnTo>
                  <a:pt x="9868930" y="32339"/>
                </a:lnTo>
                <a:lnTo>
                  <a:pt x="9886841" y="43756"/>
                </a:lnTo>
                <a:lnTo>
                  <a:pt x="9904752" y="54339"/>
                </a:lnTo>
                <a:lnTo>
                  <a:pt x="9922663" y="63821"/>
                </a:lnTo>
                <a:lnTo>
                  <a:pt x="9940573" y="71751"/>
                </a:lnTo>
                <a:lnTo>
                  <a:pt x="9958484" y="77564"/>
                </a:lnTo>
                <a:lnTo>
                  <a:pt x="9976395" y="80804"/>
                </a:lnTo>
                <a:lnTo>
                  <a:pt x="9994306" y="81516"/>
                </a:lnTo>
                <a:lnTo>
                  <a:pt x="10012217" y="80613"/>
                </a:lnTo>
                <a:lnTo>
                  <a:pt x="10030128" y="79908"/>
                </a:lnTo>
                <a:lnTo>
                  <a:pt x="10048039" y="81613"/>
                </a:lnTo>
                <a:lnTo>
                  <a:pt x="10065950" y="87427"/>
                </a:lnTo>
                <a:lnTo>
                  <a:pt x="10083861" y="97723"/>
                </a:lnTo>
                <a:lnTo>
                  <a:pt x="10101772" y="111375"/>
                </a:lnTo>
                <a:lnTo>
                  <a:pt x="10119683" y="126320"/>
                </a:lnTo>
                <a:lnTo>
                  <a:pt x="10137594" y="140502"/>
                </a:lnTo>
                <a:lnTo>
                  <a:pt x="10155505" y="152608"/>
                </a:lnTo>
                <a:lnTo>
                  <a:pt x="10173416" y="162265"/>
                </a:lnTo>
                <a:lnTo>
                  <a:pt x="10191327" y="169789"/>
                </a:lnTo>
                <a:lnTo>
                  <a:pt x="10209238" y="175776"/>
                </a:lnTo>
                <a:lnTo>
                  <a:pt x="10227149" y="180781"/>
                </a:lnTo>
                <a:lnTo>
                  <a:pt x="10245060" y="185196"/>
                </a:lnTo>
                <a:lnTo>
                  <a:pt x="10262970" y="189243"/>
                </a:lnTo>
                <a:lnTo>
                  <a:pt x="10280881" y="193033"/>
                </a:lnTo>
                <a:lnTo>
                  <a:pt x="10298792" y="196615"/>
                </a:lnTo>
                <a:lnTo>
                  <a:pt x="10316703" y="200013"/>
                </a:lnTo>
                <a:lnTo>
                  <a:pt x="10334614" y="203241"/>
                </a:lnTo>
                <a:lnTo>
                  <a:pt x="10352525" y="206308"/>
                </a:lnTo>
                <a:lnTo>
                  <a:pt x="10370436" y="209222"/>
                </a:lnTo>
                <a:lnTo>
                  <a:pt x="10388347" y="211991"/>
                </a:lnTo>
                <a:lnTo>
                  <a:pt x="10406258" y="214621"/>
                </a:lnTo>
                <a:lnTo>
                  <a:pt x="10424169" y="217121"/>
                </a:lnTo>
                <a:lnTo>
                  <a:pt x="10442080" y="219497"/>
                </a:lnTo>
                <a:lnTo>
                  <a:pt x="10459991" y="221754"/>
                </a:lnTo>
                <a:lnTo>
                  <a:pt x="10477902" y="223898"/>
                </a:lnTo>
                <a:lnTo>
                  <a:pt x="10495813" y="225936"/>
                </a:lnTo>
                <a:lnTo>
                  <a:pt x="10513724" y="227873"/>
                </a:lnTo>
                <a:lnTo>
                  <a:pt x="10531635" y="229712"/>
                </a:lnTo>
                <a:lnTo>
                  <a:pt x="10549546" y="231461"/>
                </a:lnTo>
                <a:lnTo>
                  <a:pt x="10567457" y="233122"/>
                </a:lnTo>
                <a:lnTo>
                  <a:pt x="10585367" y="234700"/>
                </a:lnTo>
                <a:lnTo>
                  <a:pt x="10603278" y="236200"/>
                </a:lnTo>
                <a:lnTo>
                  <a:pt x="10621189" y="237625"/>
                </a:lnTo>
                <a:lnTo>
                  <a:pt x="10639100" y="238980"/>
                </a:lnTo>
                <a:lnTo>
                  <a:pt x="10657011" y="240266"/>
                </a:lnTo>
                <a:lnTo>
                  <a:pt x="10674922" y="241489"/>
                </a:lnTo>
                <a:lnTo>
                  <a:pt x="10692833" y="242651"/>
                </a:lnTo>
                <a:lnTo>
                  <a:pt x="10710744" y="243755"/>
                </a:lnTo>
                <a:lnTo>
                  <a:pt x="10728655" y="244804"/>
                </a:lnTo>
              </a:path>
            </a:pathLst>
          </a:custGeom>
          <a:noFill/>
          <a:ln w="17780">
            <a:solidFill>
              <a:srgbClr val="4F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4526280"/>
            <a:ext cx="2764459" cy="1005840"/>
          </a:xfrm>
          <a:prstGeom prst="rect">
            <a:avLst/>
          </a:prstGeom>
          <a:noFill/>
          <a:ln w="9525">
            <a:solidFill>
              <a:srgbClr val="1F2C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4672584"/>
            <a:ext cx="243527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 spc="-60">
                <a:solidFill>
                  <a:srgbClr val="4FD6E8"/>
                </a:solidFill>
                <a:latin typeface="Menlo"/>
              </a:rPr>
              <a:t>127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102352"/>
            <a:ext cx="243527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spc="120">
                <a:solidFill>
                  <a:srgbClr val="7D909E"/>
                </a:solidFill>
                <a:latin typeface="Menlo"/>
              </a:rPr>
              <a:t>MOTORES DE FISIOLOGÍA Y FARMACOLOGÍA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31387" y="4526280"/>
            <a:ext cx="2764459" cy="1005840"/>
          </a:xfrm>
          <a:prstGeom prst="rect">
            <a:avLst/>
          </a:prstGeom>
          <a:noFill/>
          <a:ln w="9525">
            <a:solidFill>
              <a:srgbClr val="1F2C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95979" y="4672584"/>
            <a:ext cx="243527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 spc="-60">
                <a:solidFill>
                  <a:srgbClr val="4FD6E8"/>
                </a:solidFill>
                <a:latin typeface="Menlo"/>
              </a:rPr>
              <a:t>1.904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5979" y="5102352"/>
            <a:ext cx="243527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spc="120">
                <a:solidFill>
                  <a:srgbClr val="7D909E"/>
                </a:solidFill>
                <a:latin typeface="Menlo"/>
              </a:rPr>
              <a:t>PRUEBAS AUTOMATIZADAS, TODAS APROBADAS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5847" y="4526280"/>
            <a:ext cx="2764459" cy="1005840"/>
          </a:xfrm>
          <a:prstGeom prst="rect">
            <a:avLst/>
          </a:prstGeom>
          <a:noFill/>
          <a:ln w="9525">
            <a:solidFill>
              <a:srgbClr val="1F2C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60439" y="4672584"/>
            <a:ext cx="243527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 spc="-60">
                <a:solidFill>
                  <a:srgbClr val="4FD6E8"/>
                </a:solidFill>
                <a:latin typeface="Menlo"/>
              </a:rPr>
              <a:t>143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0439" y="5102352"/>
            <a:ext cx="243527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spc="120">
                <a:solidFill>
                  <a:srgbClr val="7D909E"/>
                </a:solidFill>
                <a:latin typeface="Menlo"/>
              </a:rPr>
              <a:t>CAPÍTULOS DE REFERENCIA INTEGRADOS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60307" y="4526280"/>
            <a:ext cx="2764459" cy="1005840"/>
          </a:xfrm>
          <a:prstGeom prst="rect">
            <a:avLst/>
          </a:prstGeom>
          <a:noFill/>
          <a:ln w="9525">
            <a:solidFill>
              <a:srgbClr val="1F2C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24899" y="4672584"/>
            <a:ext cx="243527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 spc="-60">
                <a:solidFill>
                  <a:srgbClr val="4FD6E8"/>
                </a:solidFill>
                <a:latin typeface="Menlo"/>
              </a:rPr>
              <a:t>42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24899" y="5102352"/>
            <a:ext cx="243527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spc="120">
                <a:solidFill>
                  <a:srgbClr val="7D909E"/>
                </a:solidFill>
                <a:latin typeface="Menlo"/>
              </a:rPr>
              <a:t>HALLAZGOS DE AUDITORÍA DOCUMENTADOS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5870448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120">
                <a:solidFill>
                  <a:srgbClr val="4E606E"/>
                </a:solidFill>
                <a:latin typeface="Menlo"/>
              </a:rPr>
              <a:t>PROPUESTA DE ADOPCIÓN CURRICULAR · </a:t>
            </a:r>
            <a:r>
              <a:rPr sz="800" b="0" spc="120">
                <a:solidFill>
                  <a:srgbClr val="4FD6E8"/>
                </a:solidFill>
                <a:latin typeface="Menlo"/>
              </a:rPr>
              <a:t>UNIVERSIDAD EL BOSQUE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089904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120">
                <a:solidFill>
                  <a:srgbClr val="4E606E"/>
                </a:solidFill>
                <a:latin typeface="Menlo"/>
              </a:rPr>
              <a:t>ESTUDIANTES DE MEDICINA Y RESIDENTES DE ANESTESIOLOGÍA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52767" y="5870448"/>
            <a:ext cx="457200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spc="120" dirty="0">
                <a:solidFill>
                  <a:srgbClr val="A8BAC6"/>
                </a:solidFill>
                <a:latin typeface="Menlo"/>
              </a:rPr>
              <a:t>SEBASTIAN RIVERA</a:t>
            </a:r>
            <a:r>
              <a:rPr lang="en-CA" sz="800" b="0" spc="120" dirty="0">
                <a:solidFill>
                  <a:srgbClr val="A8BAC6"/>
                </a:solidFill>
                <a:latin typeface="Menlo"/>
              </a:rPr>
              <a:t>, MD</a:t>
            </a:r>
            <a:endParaRPr sz="800" b="0" spc="120" dirty="0">
              <a:solidFill>
                <a:srgbClr val="A8BAC6"/>
              </a:solidFill>
              <a:latin typeface="Menlo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052767" y="608990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spc="120">
                <a:solidFill>
                  <a:srgbClr val="4E606E"/>
                </a:solidFill>
                <a:latin typeface="Menlo"/>
              </a:rPr>
              <a:t>AUTOR Y TITULAR ÚNICO DE DERECHOS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566928"/>
            <a:ext cx="5943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spc="160">
                <a:solidFill>
                  <a:srgbClr val="4FD6E8"/>
                </a:solidFill>
                <a:latin typeface="Menlo"/>
              </a:rPr>
              <a:t>01   </a:t>
            </a:r>
            <a:r>
              <a:rPr sz="1000" b="0" spc="160">
                <a:solidFill>
                  <a:srgbClr val="4E606E"/>
                </a:solidFill>
                <a:latin typeface="Menlo"/>
              </a:rPr>
              <a:t>CAPACIDAD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89727" y="566928"/>
            <a:ext cx="60350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spc="160">
                <a:solidFill>
                  <a:srgbClr val="4E606E"/>
                </a:solidFill>
                <a:latin typeface="Menlo"/>
              </a:rPr>
              <a:t>LO QUE REALMENTE VIVE EL ESTUDIANTE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9525"/>
          </a:xfrm>
          <a:prstGeom prst="rect">
            <a:avLst/>
          </a:prstGeom>
          <a:solidFill>
            <a:srgbClr val="1F2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39319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spc="-110">
                <a:solidFill>
                  <a:srgbClr val="DCE6EC"/>
                </a:solidFill>
                <a:latin typeface="Helvetica Neue"/>
              </a:rPr>
              <a:t>Cada decisión se propaga por un paciente completo.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487168"/>
            <a:ext cx="3931920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1000"/>
              </a:spcAft>
            </a:pPr>
            <a:r>
              <a:rPr sz="1150" b="0">
                <a:solidFill>
                  <a:srgbClr val="A8BAC6"/>
                </a:solidFill>
                <a:latin typeface="Helvetica Neue"/>
              </a:rPr>
              <a:t>No es un caso ramificado en video con desenlaces predefinidos. Es un </a:t>
            </a:r>
            <a:r>
              <a:rPr sz="1150" b="1">
                <a:solidFill>
                  <a:srgbClr val="DCE6EC"/>
                </a:solidFill>
                <a:latin typeface="Helvetica Neue"/>
              </a:rPr>
              <a:t>modelo fisiológico vivo</a:t>
            </a:r>
            <a:r>
              <a:rPr sz="1150" b="0">
                <a:solidFill>
                  <a:srgbClr val="A8BAC6"/>
                </a:solidFill>
                <a:latin typeface="Helvetica Neue"/>
              </a:rPr>
              <a:t> que recalcula al paciente entero una vez por segundo.</a:t>
            </a:r>
          </a:p>
          <a:p>
            <a:pPr algn="l">
              <a:lnSpc>
                <a:spcPct val="142000"/>
              </a:lnSpc>
              <a:spcAft>
                <a:spcPts val="1000"/>
              </a:spcAft>
            </a:pPr>
            <a:r>
              <a:rPr sz="1150" b="0">
                <a:solidFill>
                  <a:srgbClr val="A8BAC6"/>
                </a:solidFill>
                <a:latin typeface="Helvetica Neue"/>
              </a:rPr>
              <a:t>Administre un fármaco a dosis equivocada, olvide ventilar o pase por alto una presión que cae, y la consecuencia emerge de la fisiología misma — no de un guion que el estudiante pueda memorizar.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1768" y="1188720"/>
            <a:ext cx="3247491" cy="2121408"/>
          </a:xfrm>
          <a:prstGeom prst="rect">
            <a:avLst/>
          </a:prstGeom>
          <a:solidFill>
            <a:srgbClr val="121A22"/>
          </a:solidFill>
          <a:ln w="9525">
            <a:solidFill>
              <a:srgbClr val="1F2C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184648" y="1412748"/>
            <a:ext cx="68580" cy="68580"/>
          </a:xfrm>
          <a:prstGeom prst="rect">
            <a:avLst/>
          </a:prstGeom>
          <a:solidFill>
            <a:srgbClr val="4F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67528" y="1353312"/>
            <a:ext cx="2698851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DCE6EC"/>
                </a:solidFill>
                <a:latin typeface="Helvetica Neue"/>
              </a:rPr>
              <a:t>Fisiología multisistémica acoplada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84648" y="1755648"/>
            <a:ext cx="2881731" cy="12161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7D909E"/>
                </a:solidFill>
                <a:latin typeface="Helvetica Neue"/>
              </a:rPr>
              <a:t>Los sistemas cardiovascular, respiratorio, renal, hepático, neurológico, endocrino, de coagulación y termorregulador se resuelven en conjunto: una intervención respiratoria mueve la hemodinamia y el estado ácido-base como lo haría en un paciente real.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84648" y="2971799"/>
            <a:ext cx="288173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120">
                <a:solidFill>
                  <a:srgbClr val="4E606E"/>
                </a:solidFill>
                <a:latin typeface="Menlo"/>
              </a:rPr>
              <a:t>78 CICLOS DE MOTOR POR SEGUNDO SIMULADO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77275" y="1188720"/>
            <a:ext cx="3247491" cy="2121408"/>
          </a:xfrm>
          <a:prstGeom prst="rect">
            <a:avLst/>
          </a:prstGeom>
          <a:solidFill>
            <a:srgbClr val="121A22"/>
          </a:solidFill>
          <a:ln w="9525">
            <a:solidFill>
              <a:srgbClr val="1F2C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560155" y="1412748"/>
            <a:ext cx="68580" cy="68580"/>
          </a:xfrm>
          <a:prstGeom prst="rect">
            <a:avLst/>
          </a:prstGeom>
          <a:solidFill>
            <a:srgbClr val="4F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743035" y="1353312"/>
            <a:ext cx="2698851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DCE6EC"/>
                </a:solidFill>
                <a:latin typeface="Helvetica Neue"/>
              </a:rPr>
              <a:t>Farmacocinética y farmacodinamia reales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60155" y="1755648"/>
            <a:ext cx="2881731" cy="12161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7D909E"/>
                </a:solidFill>
                <a:latin typeface="Helvetica Neue"/>
              </a:rPr>
              <a:t>Cinética mamilar de tres compartimentos con sitio efector independiente, modelos poblacionales publicados y farmacodinamia sigmoidea Emáx a nivel de receptor. Dosis, tiempo, edad, peso, función orgánica y genotipo cambian el resultado.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60155" y="2971799"/>
            <a:ext cx="288173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120">
                <a:solidFill>
                  <a:srgbClr val="4E606E"/>
                </a:solidFill>
                <a:latin typeface="Menlo"/>
              </a:rPr>
              <a:t>170+ MEDICAMENTOS · 9 LÍQUIDOS Y HEMODERIVADOS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1768" y="3438144"/>
            <a:ext cx="3247491" cy="2121408"/>
          </a:xfrm>
          <a:prstGeom prst="rect">
            <a:avLst/>
          </a:prstGeom>
          <a:solidFill>
            <a:srgbClr val="121A22"/>
          </a:solidFill>
          <a:ln w="9525">
            <a:solidFill>
              <a:srgbClr val="1F2C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184648" y="3662172"/>
            <a:ext cx="68580" cy="68580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67528" y="3602736"/>
            <a:ext cx="2698851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DCE6EC"/>
                </a:solidFill>
                <a:latin typeface="Helvetica Neue"/>
              </a:rPr>
              <a:t>Crisis que se comportan bien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84648" y="4005072"/>
            <a:ext cx="2881731" cy="12161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7D909E"/>
                </a:solidFill>
                <a:latin typeface="Helvetica Neue"/>
              </a:rPr>
              <a:t>Anafilaxia, hipertermia maligna, toxicidad sistémica por anestésicos locales, hemorragia, embolia, broncoespasmo y paro — cada una con su modelo mecanicista propio: el rescate funciona solo si es el rescate correcto, bien administrado y a tiempo.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84648" y="5221223"/>
            <a:ext cx="288173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120">
                <a:solidFill>
                  <a:srgbClr val="4E606E"/>
                </a:solidFill>
                <a:latin typeface="Menlo"/>
              </a:rPr>
              <a:t>39 CASOS VALIDADOS DE LA ESPECIALIDAD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77275" y="3438144"/>
            <a:ext cx="3247491" cy="2121408"/>
          </a:xfrm>
          <a:prstGeom prst="rect">
            <a:avLst/>
          </a:prstGeom>
          <a:solidFill>
            <a:srgbClr val="121A22"/>
          </a:solidFill>
          <a:ln w="9525">
            <a:solidFill>
              <a:srgbClr val="1F2C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560155" y="3662172"/>
            <a:ext cx="68580" cy="68580"/>
          </a:xfrm>
          <a:prstGeom prst="rect">
            <a:avLst/>
          </a:prstGeom>
          <a:solidFill>
            <a:srgbClr val="35DE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743035" y="3602736"/>
            <a:ext cx="2698851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DCE6EC"/>
                </a:solidFill>
                <a:latin typeface="Helvetica Neue"/>
              </a:rPr>
              <a:t>Un docente disponible, y una calificación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60155" y="4005072"/>
            <a:ext cx="2881731" cy="12161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7D909E"/>
                </a:solidFill>
                <a:latin typeface="Helvetica Neue"/>
              </a:rPr>
              <a:t>Un interlocutor clínico responde preguntas ancladas en el estado real del paciente, no en texto genérico. En paralelo, cada acción queda registrada como evento de calidad estructurado y se califica de forma objetiva.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60155" y="5221223"/>
            <a:ext cx="288173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120">
                <a:solidFill>
                  <a:srgbClr val="4E606E"/>
                </a:solidFill>
                <a:latin typeface="Menlo"/>
              </a:rPr>
              <a:t>SEIS DOMINIOS DE COMPETENCIA EVALUADOS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566928"/>
            <a:ext cx="5943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spc="160">
                <a:solidFill>
                  <a:srgbClr val="4FD6E8"/>
                </a:solidFill>
                <a:latin typeface="Menlo"/>
              </a:rPr>
              <a:t>02   </a:t>
            </a:r>
            <a:r>
              <a:rPr sz="1000" b="0" spc="160">
                <a:solidFill>
                  <a:srgbClr val="4E606E"/>
                </a:solidFill>
                <a:latin typeface="Menlo"/>
              </a:rPr>
              <a:t>ARQUITECTURA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89727" y="566928"/>
            <a:ext cx="60350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spc="160">
                <a:solidFill>
                  <a:srgbClr val="4E606E"/>
                </a:solidFill>
                <a:latin typeface="Menlo"/>
              </a:rPr>
              <a:t>POR QUÉ LA INGENIERÍA ES LA PEDAGOGÍA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9525"/>
          </a:xfrm>
          <a:prstGeom prst="rect">
            <a:avLst/>
          </a:prstGeom>
          <a:solidFill>
            <a:srgbClr val="1F2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3931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spc="-110">
                <a:solidFill>
                  <a:srgbClr val="DCE6EC"/>
                </a:solidFill>
                <a:latin typeface="Helvetica Neue"/>
              </a:rPr>
              <a:t>Reproducible por construcción.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103120"/>
            <a:ext cx="3931920" cy="21081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1000"/>
              </a:spcAft>
            </a:pPr>
            <a:r>
              <a:rPr sz="1150" b="0" dirty="0">
                <a:solidFill>
                  <a:srgbClr val="A8BAC6"/>
                </a:solidFill>
                <a:latin typeface="Helvetica Neue"/>
              </a:rPr>
              <a:t>La </a:t>
            </a:r>
            <a:r>
              <a:rPr sz="1150" b="0" dirty="0" err="1">
                <a:solidFill>
                  <a:srgbClr val="A8BAC6"/>
                </a:solidFill>
                <a:latin typeface="Helvetica Neue"/>
              </a:rPr>
              <a:t>mayoría</a:t>
            </a:r>
            <a:r>
              <a:rPr sz="1150" b="0" dirty="0">
                <a:solidFill>
                  <a:srgbClr val="A8BAC6"/>
                </a:solidFill>
                <a:latin typeface="Helvetica Neue"/>
              </a:rPr>
              <a:t> de </a:t>
            </a:r>
            <a:r>
              <a:rPr sz="1150" b="0" dirty="0" err="1">
                <a:solidFill>
                  <a:srgbClr val="A8BAC6"/>
                </a:solidFill>
                <a:latin typeface="Helvetica Neue"/>
              </a:rPr>
              <a:t>los</a:t>
            </a:r>
            <a:r>
              <a:rPr sz="1150" b="0" dirty="0">
                <a:solidFill>
                  <a:srgbClr val="A8BAC6"/>
                </a:solidFill>
                <a:latin typeface="Helvetica Neue"/>
              </a:rPr>
              <a:t> </a:t>
            </a:r>
            <a:r>
              <a:rPr sz="1150" b="0" dirty="0" err="1">
                <a:solidFill>
                  <a:srgbClr val="A8BAC6"/>
                </a:solidFill>
                <a:latin typeface="Helvetica Neue"/>
              </a:rPr>
              <a:t>simuladores</a:t>
            </a:r>
            <a:r>
              <a:rPr sz="1150" b="0" dirty="0">
                <a:solidFill>
                  <a:srgbClr val="A8BAC6"/>
                </a:solidFill>
                <a:latin typeface="Helvetica Neue"/>
              </a:rPr>
              <a:t> </a:t>
            </a:r>
            <a:r>
              <a:rPr sz="1150" b="0" dirty="0" err="1">
                <a:solidFill>
                  <a:srgbClr val="A8BAC6"/>
                </a:solidFill>
                <a:latin typeface="Helvetica Neue"/>
              </a:rPr>
              <a:t>aleatorizan</a:t>
            </a:r>
            <a:r>
              <a:rPr sz="1150" b="0" dirty="0">
                <a:solidFill>
                  <a:srgbClr val="A8BAC6"/>
                </a:solidFill>
                <a:latin typeface="Helvetica Neue"/>
              </a:rPr>
              <a:t>. Eso </a:t>
            </a:r>
            <a:r>
              <a:rPr sz="1150" b="0" dirty="0" err="1">
                <a:solidFill>
                  <a:srgbClr val="A8BAC6"/>
                </a:solidFill>
                <a:latin typeface="Helvetica Neue"/>
              </a:rPr>
              <a:t>los</a:t>
            </a:r>
            <a:r>
              <a:rPr sz="1150" b="0" dirty="0">
                <a:solidFill>
                  <a:srgbClr val="A8BAC6"/>
                </a:solidFill>
                <a:latin typeface="Helvetica Neue"/>
              </a:rPr>
              <a:t> </a:t>
            </a:r>
            <a:r>
              <a:rPr sz="1150" b="0" dirty="0" err="1">
                <a:solidFill>
                  <a:srgbClr val="A8BAC6"/>
                </a:solidFill>
                <a:latin typeface="Helvetica Neue"/>
              </a:rPr>
              <a:t>vuelve</a:t>
            </a:r>
            <a:r>
              <a:rPr sz="1150" b="0" dirty="0">
                <a:solidFill>
                  <a:srgbClr val="A8BAC6"/>
                </a:solidFill>
                <a:latin typeface="Helvetica Neue"/>
              </a:rPr>
              <a:t> </a:t>
            </a:r>
            <a:r>
              <a:rPr sz="1150" b="0" dirty="0" err="1">
                <a:solidFill>
                  <a:srgbClr val="A8BAC6"/>
                </a:solidFill>
                <a:latin typeface="Helvetica Neue"/>
              </a:rPr>
              <a:t>injustos</a:t>
            </a:r>
            <a:r>
              <a:rPr sz="1150" b="0" dirty="0">
                <a:solidFill>
                  <a:srgbClr val="A8BAC6"/>
                </a:solidFill>
                <a:latin typeface="Helvetica Neue"/>
              </a:rPr>
              <a:t> para </a:t>
            </a:r>
            <a:r>
              <a:rPr sz="1150" b="0" dirty="0" err="1">
                <a:solidFill>
                  <a:srgbClr val="A8BAC6"/>
                </a:solidFill>
                <a:latin typeface="Helvetica Neue"/>
              </a:rPr>
              <a:t>evaluar</a:t>
            </a:r>
            <a:r>
              <a:rPr sz="1150" b="0" dirty="0">
                <a:solidFill>
                  <a:srgbClr val="A8BAC6"/>
                </a:solidFill>
                <a:latin typeface="Helvetica Neue"/>
              </a:rPr>
              <a:t> e </a:t>
            </a:r>
            <a:r>
              <a:rPr sz="1150" b="0" dirty="0" err="1">
                <a:solidFill>
                  <a:srgbClr val="A8BAC6"/>
                </a:solidFill>
                <a:latin typeface="Helvetica Neue"/>
              </a:rPr>
              <a:t>imposibles</a:t>
            </a:r>
            <a:r>
              <a:rPr sz="1150" b="0" dirty="0">
                <a:solidFill>
                  <a:srgbClr val="A8BAC6"/>
                </a:solidFill>
                <a:latin typeface="Helvetica Neue"/>
              </a:rPr>
              <a:t> de </a:t>
            </a:r>
            <a:r>
              <a:rPr sz="1150" b="0" dirty="0" err="1">
                <a:solidFill>
                  <a:srgbClr val="A8BAC6"/>
                </a:solidFill>
                <a:latin typeface="Helvetica Neue"/>
              </a:rPr>
              <a:t>investigar</a:t>
            </a:r>
            <a:r>
              <a:rPr sz="1150" b="0" dirty="0">
                <a:solidFill>
                  <a:srgbClr val="A8BAC6"/>
                </a:solidFill>
                <a:latin typeface="Helvetica Neue"/>
              </a:rPr>
              <a:t>: dos </a:t>
            </a:r>
            <a:r>
              <a:rPr sz="1150" b="0" dirty="0" err="1">
                <a:solidFill>
                  <a:srgbClr val="A8BAC6"/>
                </a:solidFill>
                <a:latin typeface="Helvetica Neue"/>
              </a:rPr>
              <a:t>residentes</a:t>
            </a:r>
            <a:r>
              <a:rPr sz="1150" b="0" dirty="0">
                <a:solidFill>
                  <a:srgbClr val="A8BAC6"/>
                </a:solidFill>
                <a:latin typeface="Helvetica Neue"/>
              </a:rPr>
              <a:t> </a:t>
            </a:r>
            <a:r>
              <a:rPr sz="1150" b="0" dirty="0" err="1">
                <a:solidFill>
                  <a:srgbClr val="A8BAC6"/>
                </a:solidFill>
                <a:latin typeface="Helvetica Neue"/>
              </a:rPr>
              <a:t>que</a:t>
            </a:r>
            <a:r>
              <a:rPr sz="1150" b="0" dirty="0">
                <a:solidFill>
                  <a:srgbClr val="A8BAC6"/>
                </a:solidFill>
                <a:latin typeface="Helvetica Neue"/>
              </a:rPr>
              <a:t> </a:t>
            </a:r>
            <a:r>
              <a:rPr sz="1150" b="0" dirty="0" err="1">
                <a:solidFill>
                  <a:srgbClr val="A8BAC6"/>
                </a:solidFill>
                <a:latin typeface="Helvetica Neue"/>
              </a:rPr>
              <a:t>reciben</a:t>
            </a:r>
            <a:r>
              <a:rPr sz="1150" b="0" dirty="0">
                <a:solidFill>
                  <a:srgbClr val="A8BAC6"/>
                </a:solidFill>
                <a:latin typeface="Helvetica Neue"/>
              </a:rPr>
              <a:t> «el </a:t>
            </a:r>
            <a:r>
              <a:rPr sz="1150" b="0" dirty="0" err="1">
                <a:solidFill>
                  <a:srgbClr val="A8BAC6"/>
                </a:solidFill>
                <a:latin typeface="Helvetica Neue"/>
              </a:rPr>
              <a:t>mismo</a:t>
            </a:r>
            <a:r>
              <a:rPr sz="1150" b="0" dirty="0">
                <a:solidFill>
                  <a:srgbClr val="A8BAC6"/>
                </a:solidFill>
                <a:latin typeface="Helvetica Neue"/>
              </a:rPr>
              <a:t> </a:t>
            </a:r>
            <a:r>
              <a:rPr sz="1150" b="0" dirty="0" err="1">
                <a:solidFill>
                  <a:srgbClr val="A8BAC6"/>
                </a:solidFill>
                <a:latin typeface="Helvetica Neue"/>
              </a:rPr>
              <a:t>caso</a:t>
            </a:r>
            <a:r>
              <a:rPr sz="1150" b="0" dirty="0">
                <a:solidFill>
                  <a:srgbClr val="A8BAC6"/>
                </a:solidFill>
                <a:latin typeface="Helvetica Neue"/>
              </a:rPr>
              <a:t>» no </a:t>
            </a:r>
            <a:r>
              <a:rPr sz="1150" b="0" dirty="0" err="1">
                <a:solidFill>
                  <a:srgbClr val="A8BAC6"/>
                </a:solidFill>
                <a:latin typeface="Helvetica Neue"/>
              </a:rPr>
              <a:t>reciben</a:t>
            </a:r>
            <a:r>
              <a:rPr sz="1150" b="0" dirty="0">
                <a:solidFill>
                  <a:srgbClr val="A8BAC6"/>
                </a:solidFill>
                <a:latin typeface="Helvetica Neue"/>
              </a:rPr>
              <a:t> el </a:t>
            </a:r>
            <a:r>
              <a:rPr sz="1150" b="0" dirty="0" err="1">
                <a:solidFill>
                  <a:srgbClr val="A8BAC6"/>
                </a:solidFill>
                <a:latin typeface="Helvetica Neue"/>
              </a:rPr>
              <a:t>mismo</a:t>
            </a:r>
            <a:r>
              <a:rPr sz="1150" b="0" dirty="0">
                <a:solidFill>
                  <a:srgbClr val="A8BAC6"/>
                </a:solidFill>
                <a:latin typeface="Helvetica Neue"/>
              </a:rPr>
              <a:t> </a:t>
            </a:r>
            <a:r>
              <a:rPr sz="1150" b="0" dirty="0" err="1">
                <a:solidFill>
                  <a:srgbClr val="A8BAC6"/>
                </a:solidFill>
                <a:latin typeface="Helvetica Neue"/>
              </a:rPr>
              <a:t>caso</a:t>
            </a:r>
            <a:r>
              <a:rPr sz="1150" b="0" dirty="0">
                <a:solidFill>
                  <a:srgbClr val="A8BAC6"/>
                </a:solidFill>
                <a:latin typeface="Helvetica Neue"/>
              </a:rPr>
              <a:t>.</a:t>
            </a:r>
          </a:p>
          <a:p>
            <a:pPr algn="l">
              <a:lnSpc>
                <a:spcPct val="142000"/>
              </a:lnSpc>
              <a:spcAft>
                <a:spcPts val="1000"/>
              </a:spcAft>
            </a:pPr>
            <a:r>
              <a:rPr sz="1150" b="0" dirty="0">
                <a:solidFill>
                  <a:srgbClr val="A8BAC6"/>
                </a:solidFill>
                <a:latin typeface="Helvetica Neue"/>
              </a:rPr>
              <a:t>El </a:t>
            </a:r>
            <a:r>
              <a:rPr sz="1150" b="0" dirty="0" err="1">
                <a:solidFill>
                  <a:srgbClr val="A8BAC6"/>
                </a:solidFill>
                <a:latin typeface="Helvetica Neue"/>
              </a:rPr>
              <a:t>núcleo</a:t>
            </a:r>
            <a:r>
              <a:rPr sz="1150" b="0" dirty="0">
                <a:solidFill>
                  <a:srgbClr val="A8BAC6"/>
                </a:solidFill>
                <a:latin typeface="Helvetica Neue"/>
              </a:rPr>
              <a:t> de </a:t>
            </a:r>
            <a:r>
              <a:rPr lang="en-CA" sz="1150" b="0" dirty="0" err="1">
                <a:solidFill>
                  <a:srgbClr val="A8BAC6"/>
                </a:solidFill>
                <a:latin typeface="Helvetica Neue"/>
              </a:rPr>
              <a:t>Aetheris</a:t>
            </a:r>
            <a:r>
              <a:rPr sz="1150" b="0" dirty="0">
                <a:solidFill>
                  <a:srgbClr val="A8BAC6"/>
                </a:solidFill>
                <a:latin typeface="Helvetica Neue"/>
              </a:rPr>
              <a:t> es </a:t>
            </a:r>
            <a:r>
              <a:rPr sz="1150" b="1" dirty="0" err="1">
                <a:solidFill>
                  <a:srgbClr val="DCE6EC"/>
                </a:solidFill>
                <a:latin typeface="Helvetica Neue"/>
              </a:rPr>
              <a:t>determinista</a:t>
            </a:r>
            <a:r>
              <a:rPr sz="1150" b="1" dirty="0">
                <a:solidFill>
                  <a:srgbClr val="DCE6EC"/>
                </a:solidFill>
                <a:latin typeface="Helvetica Neue"/>
              </a:rPr>
              <a:t> y </a:t>
            </a:r>
            <a:r>
              <a:rPr sz="1150" b="1" dirty="0" err="1">
                <a:solidFill>
                  <a:srgbClr val="DCE6EC"/>
                </a:solidFill>
                <a:latin typeface="Helvetica Neue"/>
              </a:rPr>
              <a:t>sembrado</a:t>
            </a:r>
            <a:r>
              <a:rPr sz="1150" b="0" dirty="0">
                <a:solidFill>
                  <a:srgbClr val="A8BAC6"/>
                </a:solidFill>
                <a:latin typeface="Helvetica Neue"/>
              </a:rPr>
              <a:t>: un </a:t>
            </a:r>
            <a:r>
              <a:rPr sz="1150" b="0" dirty="0" err="1">
                <a:solidFill>
                  <a:srgbClr val="A8BAC6"/>
                </a:solidFill>
                <a:latin typeface="Helvetica Neue"/>
              </a:rPr>
              <a:t>caso</a:t>
            </a:r>
            <a:r>
              <a:rPr sz="1150" b="0" dirty="0">
                <a:solidFill>
                  <a:srgbClr val="A8BAC6"/>
                </a:solidFill>
                <a:latin typeface="Helvetica Neue"/>
              </a:rPr>
              <a:t> </a:t>
            </a:r>
            <a:r>
              <a:rPr sz="1150" b="0" dirty="0" err="1">
                <a:solidFill>
                  <a:srgbClr val="A8BAC6"/>
                </a:solidFill>
                <a:latin typeface="Helvetica Neue"/>
              </a:rPr>
              <a:t>idéntico</a:t>
            </a:r>
            <a:r>
              <a:rPr sz="1150" b="0" dirty="0">
                <a:solidFill>
                  <a:srgbClr val="A8BAC6"/>
                </a:solidFill>
                <a:latin typeface="Helvetica Neue"/>
              </a:rPr>
              <a:t> es </a:t>
            </a:r>
            <a:r>
              <a:rPr sz="1150" b="0" dirty="0" err="1">
                <a:solidFill>
                  <a:srgbClr val="A8BAC6"/>
                </a:solidFill>
                <a:latin typeface="Helvetica Neue"/>
              </a:rPr>
              <a:t>idéntico</a:t>
            </a:r>
            <a:r>
              <a:rPr sz="1150" b="0" dirty="0">
                <a:solidFill>
                  <a:srgbClr val="A8BAC6"/>
                </a:solidFill>
                <a:latin typeface="Helvetica Neue"/>
              </a:rPr>
              <a:t> bit a bit para </a:t>
            </a:r>
            <a:r>
              <a:rPr sz="1150" b="0" dirty="0" err="1">
                <a:solidFill>
                  <a:srgbClr val="A8BAC6"/>
                </a:solidFill>
                <a:latin typeface="Helvetica Neue"/>
              </a:rPr>
              <a:t>cada</a:t>
            </a:r>
            <a:r>
              <a:rPr sz="1150" b="0" dirty="0">
                <a:solidFill>
                  <a:srgbClr val="A8BAC6"/>
                </a:solidFill>
                <a:latin typeface="Helvetica Neue"/>
              </a:rPr>
              <a:t> </a:t>
            </a:r>
            <a:r>
              <a:rPr sz="1150" b="0" dirty="0" err="1">
                <a:solidFill>
                  <a:srgbClr val="A8BAC6"/>
                </a:solidFill>
                <a:latin typeface="Helvetica Neue"/>
              </a:rPr>
              <a:t>estudiante</a:t>
            </a:r>
            <a:r>
              <a:rPr sz="1150" b="0" dirty="0">
                <a:solidFill>
                  <a:srgbClr val="A8BAC6"/>
                </a:solidFill>
                <a:latin typeface="Helvetica Neue"/>
              </a:rPr>
              <a:t>, reproducible meses </a:t>
            </a:r>
            <a:r>
              <a:rPr sz="1150" b="0" dirty="0" err="1">
                <a:solidFill>
                  <a:srgbClr val="A8BAC6"/>
                </a:solidFill>
                <a:latin typeface="Helvetica Neue"/>
              </a:rPr>
              <a:t>después</a:t>
            </a:r>
            <a:r>
              <a:rPr sz="1150" b="0" dirty="0">
                <a:solidFill>
                  <a:srgbClr val="A8BAC6"/>
                </a:solidFill>
                <a:latin typeface="Helvetica Neue"/>
              </a:rPr>
              <a:t> para el debriefing, y </a:t>
            </a:r>
            <a:r>
              <a:rPr sz="1150" b="0" dirty="0" err="1">
                <a:solidFill>
                  <a:srgbClr val="A8BAC6"/>
                </a:solidFill>
                <a:latin typeface="Helvetica Neue"/>
              </a:rPr>
              <a:t>admisible</a:t>
            </a:r>
            <a:r>
              <a:rPr sz="1150" b="0" dirty="0">
                <a:solidFill>
                  <a:srgbClr val="A8BAC6"/>
                </a:solidFill>
                <a:latin typeface="Helvetica Neue"/>
              </a:rPr>
              <a:t> </a:t>
            </a:r>
            <a:r>
              <a:rPr sz="1150" b="0" dirty="0" err="1">
                <a:solidFill>
                  <a:srgbClr val="A8BAC6"/>
                </a:solidFill>
                <a:latin typeface="Helvetica Neue"/>
              </a:rPr>
              <a:t>como</a:t>
            </a:r>
            <a:r>
              <a:rPr sz="1150" b="0" dirty="0">
                <a:solidFill>
                  <a:srgbClr val="A8BAC6"/>
                </a:solidFill>
                <a:latin typeface="Helvetica Neue"/>
              </a:rPr>
              <a:t> </a:t>
            </a:r>
            <a:r>
              <a:rPr sz="1150" b="0" dirty="0" err="1">
                <a:solidFill>
                  <a:srgbClr val="A8BAC6"/>
                </a:solidFill>
                <a:latin typeface="Helvetica Neue"/>
              </a:rPr>
              <a:t>condición</a:t>
            </a:r>
            <a:r>
              <a:rPr sz="1150" b="0" dirty="0">
                <a:solidFill>
                  <a:srgbClr val="A8BAC6"/>
                </a:solidFill>
                <a:latin typeface="Helvetica Neue"/>
              </a:rPr>
              <a:t> experimental.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1768" y="1188720"/>
            <a:ext cx="1607743" cy="1956816"/>
          </a:xfrm>
          <a:prstGeom prst="rect">
            <a:avLst/>
          </a:prstGeom>
          <a:solidFill>
            <a:srgbClr val="121A22"/>
          </a:solidFill>
          <a:ln w="9525">
            <a:solidFill>
              <a:srgbClr val="1F2C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138928" y="1298448"/>
            <a:ext cx="1333423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140">
                <a:solidFill>
                  <a:srgbClr val="4FD6E8"/>
                </a:solidFill>
                <a:latin typeface="Menlo"/>
              </a:rPr>
              <a:t>SEMILLA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38928" y="1517904"/>
            <a:ext cx="133342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spc="-20">
                <a:solidFill>
                  <a:srgbClr val="DCE6EC"/>
                </a:solidFill>
                <a:latin typeface="Helvetica Neue"/>
              </a:rPr>
              <a:t>Núcleo determinista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38928" y="1901952"/>
            <a:ext cx="1333423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D909E"/>
                </a:solidFill>
                <a:latin typeface="Helvetica Neue"/>
              </a:rPr>
              <a:t>Un generador por contador reemplaza toda llamada aleatoria no controlada. El estado completo son dos enteros guardados con el caso.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3519" y="1188720"/>
            <a:ext cx="1607743" cy="1956816"/>
          </a:xfrm>
          <a:prstGeom prst="rect">
            <a:avLst/>
          </a:prstGeom>
          <a:solidFill>
            <a:srgbClr val="121A22"/>
          </a:solidFill>
          <a:ln w="9525">
            <a:solidFill>
              <a:srgbClr val="1F2C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10679" y="1298448"/>
            <a:ext cx="1333423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140">
                <a:solidFill>
                  <a:srgbClr val="4FD6E8"/>
                </a:solidFill>
                <a:latin typeface="Menlo"/>
              </a:rPr>
              <a:t>CICLO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0679" y="1517904"/>
            <a:ext cx="133342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spc="-20">
                <a:solidFill>
                  <a:srgbClr val="DCE6EC"/>
                </a:solidFill>
                <a:latin typeface="Helvetica Neue"/>
              </a:rPr>
              <a:t>Paso integrado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0679" y="1901952"/>
            <a:ext cx="1333423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D909E"/>
                </a:solidFill>
                <a:latin typeface="Helvetica Neue"/>
              </a:rPr>
              <a:t>Un reloj avanza 78 modelos de motor por segundo simulado sobre un único estado compartido del paciente.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45271" y="1188720"/>
            <a:ext cx="1607743" cy="1956816"/>
          </a:xfrm>
          <a:prstGeom prst="rect">
            <a:avLst/>
          </a:prstGeom>
          <a:solidFill>
            <a:srgbClr val="121A22"/>
          </a:solidFill>
          <a:ln w="9525">
            <a:solidFill>
              <a:srgbClr val="1F2C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82431" y="1298448"/>
            <a:ext cx="1333423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140">
                <a:solidFill>
                  <a:srgbClr val="4FD6E8"/>
                </a:solidFill>
                <a:latin typeface="Menlo"/>
              </a:rPr>
              <a:t>SIN INTERFAZ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82431" y="1517904"/>
            <a:ext cx="133342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spc="-20">
                <a:solidFill>
                  <a:srgbClr val="DCE6EC"/>
                </a:solidFill>
                <a:latin typeface="Helvetica Neue"/>
              </a:rPr>
              <a:t>Ejecución headless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82431" y="1901952"/>
            <a:ext cx="1333423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D909E"/>
                </a:solidFill>
                <a:latin typeface="Helvetica Neue"/>
              </a:rPr>
              <a:t>La misma física corre fuera del navegador, así el modelo se audita por máquina a gran escala.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17023" y="1188720"/>
            <a:ext cx="1607743" cy="1956816"/>
          </a:xfrm>
          <a:prstGeom prst="rect">
            <a:avLst/>
          </a:prstGeom>
          <a:solidFill>
            <a:srgbClr val="121A22"/>
          </a:solidFill>
          <a:ln w="9525">
            <a:solidFill>
              <a:srgbClr val="1F2C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154183" y="1298448"/>
            <a:ext cx="1333423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140">
                <a:solidFill>
                  <a:srgbClr val="4FD6E8"/>
                </a:solidFill>
                <a:latin typeface="Menlo"/>
              </a:rPr>
              <a:t>ORÁCULO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54183" y="1517904"/>
            <a:ext cx="133342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spc="-20">
                <a:solidFill>
                  <a:srgbClr val="DCE6EC"/>
                </a:solidFill>
                <a:latin typeface="Helvetica Neue"/>
              </a:rPr>
              <a:t>Verificación de invariantes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54183" y="1901952"/>
            <a:ext cx="1333423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D909E"/>
                </a:solidFill>
                <a:latin typeface="Helvetica Neue"/>
              </a:rPr>
              <a:t>Un verificador independiente rederiva la física en cada ciclo — ley de Ohm, gas alveolar, curva de disociación — y marca contradicciones.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1768" y="3236976"/>
            <a:ext cx="6622999" cy="566928"/>
          </a:xfrm>
          <a:prstGeom prst="rect">
            <a:avLst/>
          </a:prstGeom>
          <a:solidFill>
            <a:srgbClr val="121A22"/>
          </a:solidFill>
          <a:ln w="9525">
            <a:solidFill>
              <a:srgbClr val="1B4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148072" y="3355848"/>
            <a:ext cx="6330391" cy="32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b="0" spc="120" dirty="0">
                <a:solidFill>
                  <a:srgbClr val="35DE94"/>
                </a:solidFill>
                <a:latin typeface="Menlo"/>
              </a:rPr>
              <a:t>↳  LAZO CERRADO    </a:t>
            </a:r>
            <a:r>
              <a:rPr sz="800" b="0" spc="40" dirty="0">
                <a:solidFill>
                  <a:srgbClr val="7D909E"/>
                </a:solidFill>
                <a:latin typeface="Menlo"/>
              </a:rPr>
              <a:t>Un </a:t>
            </a:r>
            <a:r>
              <a:rPr sz="800" b="0" spc="40" dirty="0" err="1">
                <a:solidFill>
                  <a:srgbClr val="7D909E"/>
                </a:solidFill>
                <a:latin typeface="Menlo"/>
              </a:rPr>
              <a:t>fuzzer</a:t>
            </a:r>
            <a:r>
              <a:rPr sz="800" b="0" spc="40" dirty="0">
                <a:solidFill>
                  <a:srgbClr val="7D909E"/>
                </a:solidFill>
                <a:latin typeface="Menlo"/>
              </a:rPr>
              <a:t> adversarial genera </a:t>
            </a:r>
            <a:r>
              <a:rPr sz="800" b="0" spc="40" dirty="0" err="1">
                <a:solidFill>
                  <a:srgbClr val="7D909E"/>
                </a:solidFill>
                <a:latin typeface="Menlo"/>
              </a:rPr>
              <a:t>secuencias</a:t>
            </a:r>
            <a:r>
              <a:rPr sz="800" b="0" spc="40" dirty="0">
                <a:solidFill>
                  <a:srgbClr val="7D909E"/>
                </a:solidFill>
                <a:latin typeface="Menlo"/>
              </a:rPr>
              <a:t> de </a:t>
            </a:r>
            <a:r>
              <a:rPr sz="800" b="0" spc="40" dirty="0" err="1">
                <a:solidFill>
                  <a:srgbClr val="7D909E"/>
                </a:solidFill>
                <a:latin typeface="Menlo"/>
              </a:rPr>
              <a:t>acciones</a:t>
            </a:r>
            <a:r>
              <a:rPr sz="800" b="0" spc="40" dirty="0">
                <a:solidFill>
                  <a:srgbClr val="7D909E"/>
                </a:solidFill>
                <a:latin typeface="Menlo"/>
              </a:rPr>
              <a:t> </a:t>
            </a:r>
            <a:r>
              <a:rPr sz="800" b="0" spc="40" dirty="0" err="1">
                <a:solidFill>
                  <a:srgbClr val="7D909E"/>
                </a:solidFill>
                <a:latin typeface="Menlo"/>
              </a:rPr>
              <a:t>clínicas</a:t>
            </a:r>
            <a:r>
              <a:rPr sz="800" b="0" spc="40" dirty="0">
                <a:solidFill>
                  <a:srgbClr val="7D909E"/>
                </a:solidFill>
                <a:latin typeface="Menlo"/>
              </a:rPr>
              <a:t>, </a:t>
            </a:r>
            <a:r>
              <a:rPr sz="800" b="0" spc="40" dirty="0" err="1">
                <a:solidFill>
                  <a:srgbClr val="7D909E"/>
                </a:solidFill>
                <a:latin typeface="Menlo"/>
              </a:rPr>
              <a:t>ejecuta</a:t>
            </a:r>
            <a:r>
              <a:rPr sz="800" b="0" spc="40" dirty="0">
                <a:solidFill>
                  <a:srgbClr val="7D909E"/>
                </a:solidFill>
                <a:latin typeface="Menlo"/>
              </a:rPr>
              <a:t> la </a:t>
            </a:r>
            <a:r>
              <a:rPr sz="800" b="0" spc="40" dirty="0" err="1">
                <a:solidFill>
                  <a:srgbClr val="7D909E"/>
                </a:solidFill>
                <a:latin typeface="Menlo"/>
              </a:rPr>
              <a:t>física</a:t>
            </a:r>
            <a:r>
              <a:rPr sz="800" b="0" spc="40" dirty="0">
                <a:solidFill>
                  <a:srgbClr val="7D909E"/>
                </a:solidFill>
                <a:latin typeface="Menlo"/>
              </a:rPr>
              <a:t> real y </a:t>
            </a:r>
            <a:r>
              <a:rPr sz="800" b="0" spc="40" dirty="0" err="1">
                <a:solidFill>
                  <a:srgbClr val="7D909E"/>
                </a:solidFill>
                <a:latin typeface="Menlo"/>
              </a:rPr>
              <a:t>califica</a:t>
            </a:r>
            <a:r>
              <a:rPr sz="800" b="0" spc="40" dirty="0">
                <a:solidFill>
                  <a:srgbClr val="7D909E"/>
                </a:solidFill>
                <a:latin typeface="Menlo"/>
              </a:rPr>
              <a:t> </a:t>
            </a:r>
            <a:r>
              <a:rPr sz="800" b="0" spc="40" dirty="0" err="1">
                <a:solidFill>
                  <a:srgbClr val="7D909E"/>
                </a:solidFill>
                <a:latin typeface="Menlo"/>
              </a:rPr>
              <a:t>cada</a:t>
            </a:r>
            <a:r>
              <a:rPr sz="800" b="0" spc="40" dirty="0">
                <a:solidFill>
                  <a:srgbClr val="7D909E"/>
                </a:solidFill>
                <a:latin typeface="Menlo"/>
              </a:rPr>
              <a:t> </a:t>
            </a:r>
            <a:r>
              <a:rPr sz="800" b="0" spc="40" dirty="0" err="1">
                <a:solidFill>
                  <a:srgbClr val="7D909E"/>
                </a:solidFill>
                <a:latin typeface="Menlo"/>
              </a:rPr>
              <a:t>ciclo</a:t>
            </a:r>
            <a:r>
              <a:rPr sz="800" b="0" spc="40" dirty="0">
                <a:solidFill>
                  <a:srgbClr val="7D909E"/>
                </a:solidFill>
                <a:latin typeface="Menlo"/>
              </a:rPr>
              <a:t> contra el </a:t>
            </a:r>
            <a:r>
              <a:rPr sz="800" b="0" spc="40" dirty="0" err="1">
                <a:solidFill>
                  <a:srgbClr val="7D909E"/>
                </a:solidFill>
                <a:latin typeface="Menlo"/>
              </a:rPr>
              <a:t>oráculo</a:t>
            </a:r>
            <a:r>
              <a:rPr sz="800" b="0" spc="40" dirty="0">
                <a:solidFill>
                  <a:srgbClr val="7D909E"/>
                </a:solidFill>
                <a:latin typeface="Menlo"/>
              </a:rPr>
              <a:t>, de forma </a:t>
            </a:r>
            <a:r>
              <a:rPr sz="800" b="0" spc="40" dirty="0" err="1">
                <a:solidFill>
                  <a:srgbClr val="7D909E"/>
                </a:solidFill>
                <a:latin typeface="Menlo"/>
              </a:rPr>
              <a:t>automática</a:t>
            </a:r>
            <a:r>
              <a:rPr sz="800" b="0" spc="40" dirty="0">
                <a:solidFill>
                  <a:srgbClr val="7D909E"/>
                </a:solidFill>
                <a:latin typeface="Menlo"/>
              </a:rPr>
              <a:t> y </a:t>
            </a:r>
            <a:r>
              <a:rPr sz="800" b="0" spc="40" dirty="0" err="1">
                <a:solidFill>
                  <a:srgbClr val="7D909E"/>
                </a:solidFill>
                <a:latin typeface="Menlo"/>
              </a:rPr>
              <a:t>en</a:t>
            </a:r>
            <a:r>
              <a:rPr sz="800" b="0" spc="40" dirty="0">
                <a:solidFill>
                  <a:srgbClr val="7D909E"/>
                </a:solidFill>
                <a:latin typeface="Menlo"/>
              </a:rPr>
              <a:t> </a:t>
            </a:r>
            <a:r>
              <a:rPr sz="800" b="0" spc="40" dirty="0" err="1">
                <a:solidFill>
                  <a:srgbClr val="7D909E"/>
                </a:solidFill>
                <a:latin typeface="Menlo"/>
              </a:rPr>
              <a:t>cada</a:t>
            </a:r>
            <a:r>
              <a:rPr sz="800" b="0" spc="40" dirty="0">
                <a:solidFill>
                  <a:srgbClr val="7D909E"/>
                </a:solidFill>
                <a:latin typeface="Menlo"/>
              </a:rPr>
              <a:t> </a:t>
            </a:r>
            <a:r>
              <a:rPr sz="800" b="0" spc="40" dirty="0" err="1">
                <a:solidFill>
                  <a:srgbClr val="7D909E"/>
                </a:solidFill>
                <a:latin typeface="Menlo"/>
              </a:rPr>
              <a:t>cambio</a:t>
            </a:r>
            <a:r>
              <a:rPr sz="800" b="0" spc="40" dirty="0">
                <a:solidFill>
                  <a:srgbClr val="7D909E"/>
                </a:solidFill>
                <a:latin typeface="Menlo"/>
              </a:rPr>
              <a:t>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1768" y="3931920"/>
            <a:ext cx="3247491" cy="2011680"/>
          </a:xfrm>
          <a:prstGeom prst="rect">
            <a:avLst/>
          </a:prstGeom>
          <a:solidFill>
            <a:srgbClr val="121A22"/>
          </a:solidFill>
          <a:ln w="9525">
            <a:solidFill>
              <a:srgbClr val="1F2C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184648" y="4155948"/>
            <a:ext cx="68580" cy="68580"/>
          </a:xfrm>
          <a:prstGeom prst="rect">
            <a:avLst/>
          </a:prstGeom>
          <a:solidFill>
            <a:srgbClr val="4F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367528" y="4096512"/>
            <a:ext cx="2698851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DCE6EC"/>
                </a:solidFill>
                <a:latin typeface="Helvetica Neue"/>
              </a:rPr>
              <a:t>Capa de conocimiento separada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84648" y="4498848"/>
            <a:ext cx="2881731" cy="11064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7D909E"/>
                </a:solidFill>
                <a:latin typeface="Helvetica Neue"/>
              </a:rPr>
              <a:t>El contenido de referencia vive en su propio almacén consultable, con tablas y figuras preservadas estructuralmente. Informa la enseñanza y la construcción de casos; nunca altera la física en silencio.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84648" y="5605272"/>
            <a:ext cx="288173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120">
                <a:solidFill>
                  <a:srgbClr val="4E606E"/>
                </a:solidFill>
                <a:latin typeface="Menlo"/>
              </a:rPr>
              <a:t>36 MB DE BASE DE CONOCIMIENTO ESTRUCTURADA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77275" y="3931920"/>
            <a:ext cx="3247491" cy="2011680"/>
          </a:xfrm>
          <a:prstGeom prst="rect">
            <a:avLst/>
          </a:prstGeom>
          <a:solidFill>
            <a:srgbClr val="121A22"/>
          </a:solidFill>
          <a:ln w="9525">
            <a:solidFill>
              <a:srgbClr val="1F2C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560155" y="4155948"/>
            <a:ext cx="68580" cy="68580"/>
          </a:xfrm>
          <a:prstGeom prst="rect">
            <a:avLst/>
          </a:prstGeom>
          <a:solidFill>
            <a:srgbClr val="4F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743035" y="4096512"/>
            <a:ext cx="2698851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DCE6EC"/>
                </a:solidFill>
                <a:latin typeface="Helvetica Neue"/>
              </a:rPr>
              <a:t>Captura, restauración y repetición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60155" y="4498848"/>
            <a:ext cx="2881731" cy="11064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7D909E"/>
                </a:solidFill>
                <a:latin typeface="Helvetica Neue"/>
              </a:rPr>
              <a:t>Cualquier momento se captura y restaura de forma exacta, incluido el estado aleatorio. Congele una crisis, repítala en el debriefing o entregue el estado idéntico a un revisor.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60155" y="5605272"/>
            <a:ext cx="288173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120">
                <a:solidFill>
                  <a:srgbClr val="4E606E"/>
                </a:solidFill>
                <a:latin typeface="Menlo"/>
              </a:rPr>
              <a:t>SERIALIZACIÓN COMPLETA DEL ESTADO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566928"/>
            <a:ext cx="5943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spc="160">
                <a:solidFill>
                  <a:srgbClr val="4FD6E8"/>
                </a:solidFill>
                <a:latin typeface="Menlo"/>
              </a:rPr>
              <a:t>03   </a:t>
            </a:r>
            <a:r>
              <a:rPr sz="1000" b="0" spc="160">
                <a:solidFill>
                  <a:srgbClr val="4E606E"/>
                </a:solidFill>
                <a:latin typeface="Menlo"/>
              </a:rPr>
              <a:t>PROCEDENCIA Y VERIFICACIÓN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89727" y="566928"/>
            <a:ext cx="60350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spc="160">
                <a:solidFill>
                  <a:srgbClr val="4E606E"/>
                </a:solidFill>
                <a:latin typeface="Menlo"/>
              </a:rPr>
              <a:t>POR QUÉ SE PUEDE CONFIAR FRENTE A LOS ESTUDIANTES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9525"/>
          </a:xfrm>
          <a:prstGeom prst="rect">
            <a:avLst/>
          </a:prstGeom>
          <a:solidFill>
            <a:srgbClr val="1F2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39319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spc="-110">
                <a:solidFill>
                  <a:srgbClr val="DCE6EC"/>
                </a:solidFill>
                <a:latin typeface="Helvetica Neue"/>
              </a:rPr>
              <a:t>Tomado del canon. Después atacado a propósito.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615184"/>
            <a:ext cx="3931920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1000"/>
              </a:spcAft>
            </a:pPr>
            <a:r>
              <a:rPr sz="1100" b="0">
                <a:solidFill>
                  <a:srgbClr val="A8BAC6"/>
                </a:solidFill>
                <a:latin typeface="Helvetica Neue"/>
              </a:rPr>
              <a:t>El contenido proviene de </a:t>
            </a:r>
            <a:r>
              <a:rPr sz="1100" b="1">
                <a:solidFill>
                  <a:srgbClr val="DCE6EC"/>
                </a:solidFill>
                <a:latin typeface="Helvetica Neue"/>
              </a:rPr>
              <a:t>143 capítulos integrados sistemáticamente</a:t>
            </a:r>
            <a:r>
              <a:rPr sz="1100" b="0">
                <a:solidFill>
                  <a:srgbClr val="A8BAC6"/>
                </a:solidFill>
                <a:latin typeface="Helvetica Neue"/>
              </a:rPr>
              <a:t> de la obra de referencia estándar de la especialidad y de su manual estándar de procedimientos.</a:t>
            </a:r>
          </a:p>
          <a:p>
            <a:pPr algn="l">
              <a:lnSpc>
                <a:spcPct val="142000"/>
              </a:lnSpc>
              <a:spcAft>
                <a:spcPts val="1000"/>
              </a:spcAft>
            </a:pPr>
            <a:r>
              <a:rPr sz="1100" b="0">
                <a:solidFill>
                  <a:srgbClr val="A8BAC6"/>
                </a:solidFill>
                <a:latin typeface="Helvetica Neue"/>
              </a:rPr>
              <a:t>Una regla gobierna todo el proyecto: un parámetro fisiológico o farmacológico </a:t>
            </a:r>
            <a:r>
              <a:rPr sz="1100" b="1">
                <a:solidFill>
                  <a:srgbClr val="DCE6EC"/>
                </a:solidFill>
                <a:latin typeface="Helvetica Neue"/>
              </a:rPr>
              <a:t>nunca se inventa</a:t>
            </a:r>
            <a:r>
              <a:rPr sz="1100" b="0">
                <a:solidFill>
                  <a:srgbClr val="A8BAC6"/>
                </a:solidFill>
                <a:latin typeface="Helvetica Neue"/>
              </a:rPr>
              <a:t>. Cuando la fuente no da un valor, se usa un promedio de clase o una estimación razonada, documentada y declarada como tal — nunca presentada como referenciada.</a:t>
            </a:r>
          </a:p>
          <a:p>
            <a:pPr algn="l">
              <a:lnSpc>
                <a:spcPct val="142000"/>
              </a:lnSpc>
              <a:spcAft>
                <a:spcPts val="1000"/>
              </a:spcAft>
            </a:pPr>
            <a:r>
              <a:rPr sz="1100" b="0">
                <a:solidFill>
                  <a:srgbClr val="A8BAC6"/>
                </a:solidFill>
                <a:latin typeface="Helvetica Neue"/>
              </a:rPr>
              <a:t>Citar una fuente no prueba corrección. Por eso el modelo pasó por una auditoría adversarial de cuatro capas.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1768" y="1188720"/>
            <a:ext cx="6622999" cy="822960"/>
          </a:xfrm>
          <a:prstGeom prst="rect">
            <a:avLst/>
          </a:prstGeom>
          <a:solidFill>
            <a:srgbClr val="121A22"/>
          </a:solidFill>
          <a:ln w="9525">
            <a:solidFill>
              <a:srgbClr val="1F2C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148072" y="1335024"/>
            <a:ext cx="685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130">
                <a:solidFill>
                  <a:srgbClr val="4FD6E8"/>
                </a:solidFill>
                <a:latin typeface="Menlo"/>
              </a:rPr>
              <a:t>CAPA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16168" y="1289304"/>
            <a:ext cx="429127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-20">
                <a:solidFill>
                  <a:srgbClr val="DCE6EC"/>
                </a:solidFill>
                <a:latin typeface="Helvetica Neue"/>
              </a:rPr>
              <a:t>Núcleo de física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16168" y="1517904"/>
            <a:ext cx="4291279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7D909E"/>
                </a:solidFill>
                <a:latin typeface="Helvetica Neue"/>
              </a:rPr>
              <a:t>¿Es determinista, reproducible y auditable siquiera?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53167" y="1499616"/>
            <a:ext cx="122529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spc="60">
                <a:solidFill>
                  <a:srgbClr val="A8BAC6"/>
                </a:solidFill>
                <a:latin typeface="Menlo"/>
              </a:rPr>
              <a:t>Completa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01768" y="2011680"/>
            <a:ext cx="6622999" cy="822960"/>
          </a:xfrm>
          <a:prstGeom prst="rect">
            <a:avLst/>
          </a:prstGeom>
          <a:solidFill>
            <a:srgbClr val="121A22"/>
          </a:solidFill>
          <a:ln w="9525">
            <a:solidFill>
              <a:srgbClr val="1F2C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48072" y="2157984"/>
            <a:ext cx="685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130">
                <a:solidFill>
                  <a:srgbClr val="4FD6E8"/>
                </a:solidFill>
                <a:latin typeface="Menlo"/>
              </a:rPr>
              <a:t>CAPA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16168" y="2112264"/>
            <a:ext cx="429127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-20">
                <a:solidFill>
                  <a:srgbClr val="DCE6EC"/>
                </a:solidFill>
                <a:latin typeface="Helvetica Neue"/>
              </a:rPr>
              <a:t>Corrección fisiológica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16168" y="2340864"/>
            <a:ext cx="4291279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7D909E"/>
                </a:solidFill>
                <a:latin typeface="Helvetica Neue"/>
              </a:rPr>
              <a:t>¿Cada entrada mueve cada salida en la dirección que exige la fisiología? Verificado con pruebas diferenciales y un censo de todo fármaco y líquido del vademécum.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53167" y="2322576"/>
            <a:ext cx="122529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spc="60">
                <a:solidFill>
                  <a:srgbClr val="A8BAC6"/>
                </a:solidFill>
                <a:latin typeface="Menlo"/>
              </a:rPr>
              <a:t>100+ leyes fijadas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1768" y="2834640"/>
            <a:ext cx="6622999" cy="822960"/>
          </a:xfrm>
          <a:prstGeom prst="rect">
            <a:avLst/>
          </a:prstGeom>
          <a:solidFill>
            <a:srgbClr val="121A22"/>
          </a:solidFill>
          <a:ln w="9525">
            <a:solidFill>
              <a:srgbClr val="1F2C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48072" y="2980944"/>
            <a:ext cx="685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130">
                <a:solidFill>
                  <a:srgbClr val="4FD6E8"/>
                </a:solidFill>
                <a:latin typeface="Menlo"/>
              </a:rPr>
              <a:t>CAPA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16168" y="2935224"/>
            <a:ext cx="429127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-20">
                <a:solidFill>
                  <a:srgbClr val="DCE6EC"/>
                </a:solidFill>
                <a:latin typeface="Helvetica Neue"/>
              </a:rPr>
              <a:t>Procedencia de parámetros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16168" y="3163824"/>
            <a:ext cx="4291279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7D909E"/>
                </a:solidFill>
                <a:latin typeface="Helvetica Neue"/>
              </a:rPr>
              <a:t>¿Cada constante tiene la magnitud correcta, en la escala de tiempo correcta — y de dónde salió el número? Calificado campo por campo contra la fuente.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53167" y="3145536"/>
            <a:ext cx="122529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spc="60">
                <a:solidFill>
                  <a:srgbClr val="A8BAC6"/>
                </a:solidFill>
                <a:latin typeface="Menlo"/>
              </a:rPr>
              <a:t>~3.400 campos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1768" y="3657600"/>
            <a:ext cx="6622999" cy="822960"/>
          </a:xfrm>
          <a:prstGeom prst="rect">
            <a:avLst/>
          </a:prstGeom>
          <a:solidFill>
            <a:srgbClr val="121A22"/>
          </a:solidFill>
          <a:ln w="9525">
            <a:solidFill>
              <a:srgbClr val="1F2C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148072" y="3803904"/>
            <a:ext cx="685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130">
                <a:solidFill>
                  <a:srgbClr val="4FD6E8"/>
                </a:solidFill>
                <a:latin typeface="Menlo"/>
              </a:rPr>
              <a:t>CAPA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16168" y="3758184"/>
            <a:ext cx="429127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-20">
                <a:solidFill>
                  <a:srgbClr val="DCE6EC"/>
                </a:solidFill>
                <a:latin typeface="Helvetica Neue"/>
              </a:rPr>
              <a:t>Revisión clínica ciega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16168" y="3986784"/>
            <a:ext cx="4291279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7D909E"/>
                </a:solidFill>
                <a:latin typeface="Helvetica Neue"/>
              </a:rPr>
              <a:t>Revisado de extremo a extremo como lo haría un anestesiólogo al lado de la cama, deliberadamente sin anclarse a los hallazgos previos.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53167" y="3968496"/>
            <a:ext cx="122529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spc="60">
                <a:solidFill>
                  <a:srgbClr val="A8BAC6"/>
                </a:solidFill>
                <a:latin typeface="Menlo"/>
              </a:rPr>
              <a:t>En curso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01768" y="4626864"/>
            <a:ext cx="6622999" cy="548640"/>
          </a:xfrm>
          <a:prstGeom prst="rect">
            <a:avLst/>
          </a:prstGeom>
          <a:solidFill>
            <a:srgbClr val="121A22"/>
          </a:solidFill>
          <a:ln w="9525">
            <a:solidFill>
              <a:srgbClr val="1F2C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148072" y="4818888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130">
                <a:solidFill>
                  <a:srgbClr val="4E606E"/>
                </a:solidFill>
                <a:latin typeface="Menlo"/>
              </a:rPr>
              <a:t>HALLAZGOS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0216" y="4818888"/>
            <a:ext cx="75895" cy="132588"/>
          </a:xfrm>
          <a:prstGeom prst="rect">
            <a:avLst/>
          </a:prstGeom>
          <a:solidFill>
            <a:srgbClr val="35DE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403543" y="4818888"/>
            <a:ext cx="75895" cy="132588"/>
          </a:xfrm>
          <a:prstGeom prst="rect">
            <a:avLst/>
          </a:prstGeom>
          <a:solidFill>
            <a:srgbClr val="35DE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506870" y="4818888"/>
            <a:ext cx="75895" cy="132588"/>
          </a:xfrm>
          <a:prstGeom prst="rect">
            <a:avLst/>
          </a:prstGeom>
          <a:solidFill>
            <a:srgbClr val="35DE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610197" y="4818888"/>
            <a:ext cx="75895" cy="132588"/>
          </a:xfrm>
          <a:prstGeom prst="rect">
            <a:avLst/>
          </a:prstGeom>
          <a:solidFill>
            <a:srgbClr val="35DE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713524" y="4818888"/>
            <a:ext cx="75895" cy="132588"/>
          </a:xfrm>
          <a:prstGeom prst="rect">
            <a:avLst/>
          </a:prstGeom>
          <a:solidFill>
            <a:srgbClr val="35DE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816851" y="4818888"/>
            <a:ext cx="75895" cy="132588"/>
          </a:xfrm>
          <a:prstGeom prst="rect">
            <a:avLst/>
          </a:prstGeom>
          <a:solidFill>
            <a:srgbClr val="35DE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920178" y="4818888"/>
            <a:ext cx="75895" cy="132588"/>
          </a:xfrm>
          <a:prstGeom prst="rect">
            <a:avLst/>
          </a:prstGeom>
          <a:solidFill>
            <a:srgbClr val="35DE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023505" y="4818888"/>
            <a:ext cx="75895" cy="132588"/>
          </a:xfrm>
          <a:prstGeom prst="rect">
            <a:avLst/>
          </a:prstGeom>
          <a:solidFill>
            <a:srgbClr val="35DE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126832" y="4818888"/>
            <a:ext cx="75895" cy="132588"/>
          </a:xfrm>
          <a:prstGeom prst="rect">
            <a:avLst/>
          </a:prstGeom>
          <a:solidFill>
            <a:srgbClr val="35DE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230159" y="4818888"/>
            <a:ext cx="75895" cy="132588"/>
          </a:xfrm>
          <a:prstGeom prst="rect">
            <a:avLst/>
          </a:prstGeom>
          <a:solidFill>
            <a:srgbClr val="35DE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333486" y="4818888"/>
            <a:ext cx="75895" cy="132588"/>
          </a:xfrm>
          <a:prstGeom prst="rect">
            <a:avLst/>
          </a:prstGeom>
          <a:solidFill>
            <a:srgbClr val="35DE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7436813" y="4818888"/>
            <a:ext cx="75895" cy="132588"/>
          </a:xfrm>
          <a:prstGeom prst="rect">
            <a:avLst/>
          </a:prstGeom>
          <a:solidFill>
            <a:srgbClr val="35DE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540140" y="4818888"/>
            <a:ext cx="75895" cy="132588"/>
          </a:xfrm>
          <a:prstGeom prst="rect">
            <a:avLst/>
          </a:prstGeom>
          <a:solidFill>
            <a:srgbClr val="35DE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7643467" y="4818888"/>
            <a:ext cx="75895" cy="132588"/>
          </a:xfrm>
          <a:prstGeom prst="rect">
            <a:avLst/>
          </a:prstGeom>
          <a:solidFill>
            <a:srgbClr val="35DE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746794" y="4818888"/>
            <a:ext cx="75895" cy="132588"/>
          </a:xfrm>
          <a:prstGeom prst="rect">
            <a:avLst/>
          </a:prstGeom>
          <a:solidFill>
            <a:srgbClr val="35DE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7850121" y="4818888"/>
            <a:ext cx="75895" cy="132588"/>
          </a:xfrm>
          <a:prstGeom prst="rect">
            <a:avLst/>
          </a:prstGeom>
          <a:solidFill>
            <a:srgbClr val="35DE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7953448" y="4818888"/>
            <a:ext cx="75895" cy="132588"/>
          </a:xfrm>
          <a:prstGeom prst="rect">
            <a:avLst/>
          </a:prstGeom>
          <a:solidFill>
            <a:srgbClr val="35DE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8056775" y="4818888"/>
            <a:ext cx="75895" cy="132588"/>
          </a:xfrm>
          <a:prstGeom prst="rect">
            <a:avLst/>
          </a:prstGeom>
          <a:solidFill>
            <a:srgbClr val="35DE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160102" y="4818888"/>
            <a:ext cx="75895" cy="132588"/>
          </a:xfrm>
          <a:prstGeom prst="rect">
            <a:avLst/>
          </a:prstGeom>
          <a:solidFill>
            <a:srgbClr val="35DE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8263429" y="4818888"/>
            <a:ext cx="75895" cy="132588"/>
          </a:xfrm>
          <a:prstGeom prst="rect">
            <a:avLst/>
          </a:prstGeom>
          <a:solidFill>
            <a:srgbClr val="35DE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366756" y="4818888"/>
            <a:ext cx="75895" cy="132588"/>
          </a:xfrm>
          <a:prstGeom prst="rect">
            <a:avLst/>
          </a:prstGeom>
          <a:solidFill>
            <a:srgbClr val="35DE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8470083" y="4818888"/>
            <a:ext cx="75895" cy="132588"/>
          </a:xfrm>
          <a:prstGeom prst="rect">
            <a:avLst/>
          </a:prstGeom>
          <a:solidFill>
            <a:srgbClr val="35DE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8573410" y="4818888"/>
            <a:ext cx="75895" cy="132588"/>
          </a:xfrm>
          <a:prstGeom prst="rect">
            <a:avLst/>
          </a:prstGeom>
          <a:solidFill>
            <a:srgbClr val="35DE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8676737" y="4818888"/>
            <a:ext cx="75895" cy="132588"/>
          </a:xfrm>
          <a:prstGeom prst="rect">
            <a:avLst/>
          </a:prstGeom>
          <a:solidFill>
            <a:srgbClr val="35DE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8780064" y="4818888"/>
            <a:ext cx="75895" cy="132588"/>
          </a:xfrm>
          <a:prstGeom prst="rect">
            <a:avLst/>
          </a:prstGeom>
          <a:solidFill>
            <a:srgbClr val="35DE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8883391" y="4818888"/>
            <a:ext cx="75895" cy="132588"/>
          </a:xfrm>
          <a:prstGeom prst="rect">
            <a:avLst/>
          </a:prstGeom>
          <a:solidFill>
            <a:srgbClr val="35DE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8986718" y="4818888"/>
            <a:ext cx="75895" cy="132588"/>
          </a:xfrm>
          <a:prstGeom prst="rect">
            <a:avLst/>
          </a:prstGeom>
          <a:solidFill>
            <a:srgbClr val="35DE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9090045" y="4818888"/>
            <a:ext cx="75895" cy="132588"/>
          </a:xfrm>
          <a:prstGeom prst="rect">
            <a:avLst/>
          </a:prstGeom>
          <a:solidFill>
            <a:srgbClr val="35DE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9193372" y="4818888"/>
            <a:ext cx="75895" cy="132588"/>
          </a:xfrm>
          <a:prstGeom prst="rect">
            <a:avLst/>
          </a:prstGeom>
          <a:solidFill>
            <a:srgbClr val="35DE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9296699" y="4818888"/>
            <a:ext cx="75895" cy="132588"/>
          </a:xfrm>
          <a:prstGeom prst="rect">
            <a:avLst/>
          </a:prstGeom>
          <a:solidFill>
            <a:srgbClr val="35DE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9400026" y="4818888"/>
            <a:ext cx="75895" cy="132588"/>
          </a:xfrm>
          <a:prstGeom prst="rect">
            <a:avLst/>
          </a:prstGeom>
          <a:solidFill>
            <a:srgbClr val="35DE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9503353" y="4818888"/>
            <a:ext cx="75895" cy="132588"/>
          </a:xfrm>
          <a:prstGeom prst="rect">
            <a:avLst/>
          </a:prstGeom>
          <a:solidFill>
            <a:srgbClr val="35DE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9606680" y="4818888"/>
            <a:ext cx="75895" cy="132588"/>
          </a:xfrm>
          <a:prstGeom prst="rect">
            <a:avLst/>
          </a:prstGeom>
          <a:solidFill>
            <a:srgbClr val="35DE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9710007" y="4818888"/>
            <a:ext cx="75895" cy="132588"/>
          </a:xfrm>
          <a:prstGeom prst="rect">
            <a:avLst/>
          </a:prstGeom>
          <a:solidFill>
            <a:srgbClr val="35DE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9813334" y="4818888"/>
            <a:ext cx="75895" cy="132588"/>
          </a:xfrm>
          <a:prstGeom prst="rect">
            <a:avLst/>
          </a:prstGeom>
          <a:solidFill>
            <a:srgbClr val="35DE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9916661" y="4818888"/>
            <a:ext cx="75895" cy="132588"/>
          </a:xfrm>
          <a:prstGeom prst="rect">
            <a:avLst/>
          </a:prstGeom>
          <a:solidFill>
            <a:srgbClr val="35DE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10019988" y="4818888"/>
            <a:ext cx="75895" cy="132588"/>
          </a:xfrm>
          <a:prstGeom prst="rect">
            <a:avLst/>
          </a:prstGeom>
          <a:solidFill>
            <a:srgbClr val="35DE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10123315" y="4818888"/>
            <a:ext cx="75895" cy="132588"/>
          </a:xfrm>
          <a:prstGeom prst="rect">
            <a:avLst/>
          </a:prstGeom>
          <a:solidFill>
            <a:srgbClr val="35DE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10226642" y="4818888"/>
            <a:ext cx="75895" cy="132588"/>
          </a:xfrm>
          <a:prstGeom prst="rect">
            <a:avLst/>
          </a:prstGeom>
          <a:solidFill>
            <a:srgbClr val="35DE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10329969" y="4818888"/>
            <a:ext cx="75895" cy="132588"/>
          </a:xfrm>
          <a:prstGeom prst="rect">
            <a:avLst/>
          </a:prstGeom>
          <a:solidFill>
            <a:srgbClr val="35DE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10433296" y="4818888"/>
            <a:ext cx="75895" cy="132588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10536623" y="4818888"/>
            <a:ext cx="75895" cy="132588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10759288" y="4683061"/>
            <a:ext cx="865479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120" dirty="0">
                <a:solidFill>
                  <a:srgbClr val="35DE94"/>
                </a:solidFill>
                <a:latin typeface="Menlo"/>
              </a:rPr>
              <a:t>40 CORREGIDOS    </a:t>
            </a:r>
            <a:r>
              <a:rPr sz="800" b="0" spc="120" dirty="0">
                <a:solidFill>
                  <a:srgbClr val="F0B429"/>
                </a:solidFill>
                <a:latin typeface="Menlo"/>
              </a:rPr>
              <a:t>2 ABIERTOS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001768" y="5321808"/>
            <a:ext cx="662299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00" b="0" spc="30" dirty="0">
                <a:solidFill>
                  <a:srgbClr val="4E606E"/>
                </a:solidFill>
                <a:latin typeface="Menlo"/>
              </a:rPr>
              <a:t>Cada </a:t>
            </a:r>
            <a:r>
              <a:rPr sz="800" b="0" spc="30" dirty="0" err="1">
                <a:solidFill>
                  <a:srgbClr val="4E606E"/>
                </a:solidFill>
                <a:latin typeface="Menlo"/>
              </a:rPr>
              <a:t>defecto</a:t>
            </a:r>
            <a:r>
              <a:rPr sz="800" b="0" spc="30" dirty="0">
                <a:solidFill>
                  <a:srgbClr val="4E606E"/>
                </a:solidFill>
                <a:latin typeface="Menlo"/>
              </a:rPr>
              <a:t> </a:t>
            </a:r>
            <a:r>
              <a:rPr sz="800" b="0" spc="30" dirty="0" err="1">
                <a:solidFill>
                  <a:srgbClr val="4E606E"/>
                </a:solidFill>
                <a:latin typeface="Menlo"/>
              </a:rPr>
              <a:t>encontrado</a:t>
            </a:r>
            <a:r>
              <a:rPr sz="800" b="0" spc="30" dirty="0">
                <a:solidFill>
                  <a:srgbClr val="4E606E"/>
                </a:solidFill>
                <a:latin typeface="Menlo"/>
              </a:rPr>
              <a:t> se </a:t>
            </a:r>
            <a:r>
              <a:rPr sz="800" b="0" spc="30" dirty="0" err="1">
                <a:solidFill>
                  <a:srgbClr val="4E606E"/>
                </a:solidFill>
                <a:latin typeface="Menlo"/>
              </a:rPr>
              <a:t>numera</a:t>
            </a:r>
            <a:r>
              <a:rPr sz="800" b="0" spc="30" dirty="0">
                <a:solidFill>
                  <a:srgbClr val="4E606E"/>
                </a:solidFill>
                <a:latin typeface="Menlo"/>
              </a:rPr>
              <a:t>, se publica </a:t>
            </a:r>
            <a:r>
              <a:rPr sz="800" b="0" spc="30" dirty="0" err="1">
                <a:solidFill>
                  <a:srgbClr val="4E606E"/>
                </a:solidFill>
                <a:latin typeface="Menlo"/>
              </a:rPr>
              <a:t>en</a:t>
            </a:r>
            <a:r>
              <a:rPr sz="800" b="0" spc="30" dirty="0">
                <a:solidFill>
                  <a:srgbClr val="4E606E"/>
                </a:solidFill>
                <a:latin typeface="Menlo"/>
              </a:rPr>
              <a:t> un </a:t>
            </a:r>
            <a:r>
              <a:rPr sz="800" b="0" spc="30" dirty="0" err="1">
                <a:solidFill>
                  <a:srgbClr val="4E606E"/>
                </a:solidFill>
                <a:latin typeface="Menlo"/>
              </a:rPr>
              <a:t>registro</a:t>
            </a:r>
            <a:r>
              <a:rPr sz="800" b="0" spc="30" dirty="0">
                <a:solidFill>
                  <a:srgbClr val="4E606E"/>
                </a:solidFill>
                <a:latin typeface="Menlo"/>
              </a:rPr>
              <a:t> </a:t>
            </a:r>
            <a:r>
              <a:rPr sz="800" b="0" spc="30" dirty="0" err="1">
                <a:solidFill>
                  <a:srgbClr val="4E606E"/>
                </a:solidFill>
                <a:latin typeface="Menlo"/>
              </a:rPr>
              <a:t>permanente</a:t>
            </a:r>
            <a:r>
              <a:rPr sz="800" b="0" spc="30" dirty="0">
                <a:solidFill>
                  <a:srgbClr val="4E606E"/>
                </a:solidFill>
                <a:latin typeface="Menlo"/>
              </a:rPr>
              <a:t> con </a:t>
            </a:r>
            <a:r>
              <a:rPr sz="800" b="0" spc="30" dirty="0" err="1">
                <a:solidFill>
                  <a:srgbClr val="4E606E"/>
                </a:solidFill>
                <a:latin typeface="Menlo"/>
              </a:rPr>
              <a:t>su</a:t>
            </a:r>
            <a:r>
              <a:rPr sz="800" b="0" spc="30" dirty="0">
                <a:solidFill>
                  <a:srgbClr val="4E606E"/>
                </a:solidFill>
                <a:latin typeface="Menlo"/>
              </a:rPr>
              <a:t> </a:t>
            </a:r>
            <a:r>
              <a:rPr sz="800" b="0" spc="30" dirty="0" err="1">
                <a:solidFill>
                  <a:srgbClr val="4E606E"/>
                </a:solidFill>
                <a:latin typeface="Menlo"/>
              </a:rPr>
              <a:t>severidad</a:t>
            </a:r>
            <a:r>
              <a:rPr sz="800" b="0" spc="30" dirty="0">
                <a:solidFill>
                  <a:srgbClr val="4E606E"/>
                </a:solidFill>
                <a:latin typeface="Menlo"/>
              </a:rPr>
              <a:t> </a:t>
            </a:r>
            <a:r>
              <a:rPr sz="800" b="0" spc="30" dirty="0" err="1">
                <a:solidFill>
                  <a:srgbClr val="4E606E"/>
                </a:solidFill>
                <a:latin typeface="Menlo"/>
              </a:rPr>
              <a:t>clínica</a:t>
            </a:r>
            <a:r>
              <a:rPr sz="800" b="0" spc="30" dirty="0">
                <a:solidFill>
                  <a:srgbClr val="4E606E"/>
                </a:solidFill>
                <a:latin typeface="Menlo"/>
              </a:rPr>
              <a:t> y </a:t>
            </a:r>
            <a:r>
              <a:rPr sz="800" b="0" spc="30" dirty="0" err="1">
                <a:solidFill>
                  <a:srgbClr val="4E606E"/>
                </a:solidFill>
                <a:latin typeface="Menlo"/>
              </a:rPr>
              <a:t>queda</a:t>
            </a:r>
            <a:r>
              <a:rPr sz="800" b="0" spc="30" dirty="0">
                <a:solidFill>
                  <a:srgbClr val="4E606E"/>
                </a:solidFill>
                <a:latin typeface="Menlo"/>
              </a:rPr>
              <a:t> </a:t>
            </a:r>
            <a:r>
              <a:rPr sz="800" b="0" spc="30" dirty="0" err="1">
                <a:solidFill>
                  <a:srgbClr val="4E606E"/>
                </a:solidFill>
                <a:latin typeface="Menlo"/>
              </a:rPr>
              <a:t>bloqueado</a:t>
            </a:r>
            <a:r>
              <a:rPr sz="800" b="0" spc="30" dirty="0">
                <a:solidFill>
                  <a:srgbClr val="4E606E"/>
                </a:solidFill>
                <a:latin typeface="Menlo"/>
              </a:rPr>
              <a:t> </a:t>
            </a:r>
            <a:r>
              <a:rPr sz="800" b="0" spc="30" dirty="0" err="1">
                <a:solidFill>
                  <a:srgbClr val="4E606E"/>
                </a:solidFill>
                <a:latin typeface="Menlo"/>
              </a:rPr>
              <a:t>por</a:t>
            </a:r>
            <a:r>
              <a:rPr sz="800" b="0" spc="30" dirty="0">
                <a:solidFill>
                  <a:srgbClr val="4E606E"/>
                </a:solidFill>
                <a:latin typeface="Menlo"/>
              </a:rPr>
              <a:t> </a:t>
            </a:r>
            <a:r>
              <a:rPr sz="800" b="0" spc="30" dirty="0" err="1">
                <a:solidFill>
                  <a:srgbClr val="4E606E"/>
                </a:solidFill>
                <a:latin typeface="Menlo"/>
              </a:rPr>
              <a:t>una</a:t>
            </a:r>
            <a:r>
              <a:rPr sz="800" b="0" spc="30" dirty="0">
                <a:solidFill>
                  <a:srgbClr val="4E606E"/>
                </a:solidFill>
                <a:latin typeface="Menlo"/>
              </a:rPr>
              <a:t> </a:t>
            </a:r>
            <a:r>
              <a:rPr sz="800" b="0" spc="30" dirty="0" err="1">
                <a:solidFill>
                  <a:srgbClr val="4E606E"/>
                </a:solidFill>
                <a:latin typeface="Menlo"/>
              </a:rPr>
              <a:t>prueba</a:t>
            </a:r>
            <a:r>
              <a:rPr sz="800" b="0" spc="30" dirty="0">
                <a:solidFill>
                  <a:srgbClr val="4E606E"/>
                </a:solidFill>
                <a:latin typeface="Menlo"/>
              </a:rPr>
              <a:t> de </a:t>
            </a:r>
            <a:r>
              <a:rPr sz="800" b="0" spc="30" dirty="0" err="1">
                <a:solidFill>
                  <a:srgbClr val="4E606E"/>
                </a:solidFill>
                <a:latin typeface="Menlo"/>
              </a:rPr>
              <a:t>regresión</a:t>
            </a:r>
            <a:r>
              <a:rPr sz="800" b="0" spc="30" dirty="0">
                <a:solidFill>
                  <a:srgbClr val="4E606E"/>
                </a:solidFill>
                <a:latin typeface="Menlo"/>
              </a:rPr>
              <a:t> antes de </a:t>
            </a:r>
            <a:r>
              <a:rPr sz="800" b="0" spc="30" dirty="0" err="1">
                <a:solidFill>
                  <a:srgbClr val="4E606E"/>
                </a:solidFill>
                <a:latin typeface="Menlo"/>
              </a:rPr>
              <a:t>cerrarse</a:t>
            </a:r>
            <a:r>
              <a:rPr sz="800" b="0" spc="30" dirty="0">
                <a:solidFill>
                  <a:srgbClr val="4E606E"/>
                </a:solidFill>
                <a:latin typeface="Menlo"/>
              </a:rPr>
              <a:t>. Los </a:t>
            </a:r>
            <a:r>
              <a:rPr sz="800" b="0" spc="30" dirty="0" err="1">
                <a:solidFill>
                  <a:srgbClr val="4E606E"/>
                </a:solidFill>
                <a:latin typeface="Menlo"/>
              </a:rPr>
              <a:t>hallazgos</a:t>
            </a:r>
            <a:r>
              <a:rPr sz="800" b="0" spc="30" dirty="0">
                <a:solidFill>
                  <a:srgbClr val="4E606E"/>
                </a:solidFill>
                <a:latin typeface="Menlo"/>
              </a:rPr>
              <a:t> </a:t>
            </a:r>
            <a:r>
              <a:rPr sz="800" b="0" spc="30" dirty="0" err="1">
                <a:solidFill>
                  <a:srgbClr val="4E606E"/>
                </a:solidFill>
                <a:latin typeface="Menlo"/>
              </a:rPr>
              <a:t>abiertos</a:t>
            </a:r>
            <a:r>
              <a:rPr sz="800" b="0" spc="30" dirty="0">
                <a:solidFill>
                  <a:srgbClr val="4E606E"/>
                </a:solidFill>
                <a:latin typeface="Menlo"/>
              </a:rPr>
              <a:t> </a:t>
            </a:r>
            <a:r>
              <a:rPr sz="800" b="0" spc="30" dirty="0" err="1">
                <a:solidFill>
                  <a:srgbClr val="4E606E"/>
                </a:solidFill>
                <a:latin typeface="Menlo"/>
              </a:rPr>
              <a:t>permanecen</a:t>
            </a:r>
            <a:r>
              <a:rPr sz="800" b="0" spc="30" dirty="0">
                <a:solidFill>
                  <a:srgbClr val="4E606E"/>
                </a:solidFill>
                <a:latin typeface="Menlo"/>
              </a:rPr>
              <a:t> </a:t>
            </a:r>
            <a:r>
              <a:rPr sz="800" b="0" spc="30" dirty="0" err="1">
                <a:solidFill>
                  <a:srgbClr val="4E606E"/>
                </a:solidFill>
                <a:latin typeface="Menlo"/>
              </a:rPr>
              <a:t>visibles</a:t>
            </a:r>
            <a:r>
              <a:rPr sz="800" b="0" spc="30" dirty="0">
                <a:solidFill>
                  <a:srgbClr val="4E606E"/>
                </a:solidFill>
                <a:latin typeface="Menlo"/>
              </a:rPr>
              <a:t> </a:t>
            </a:r>
            <a:r>
              <a:rPr sz="800" b="0" spc="30" dirty="0" err="1">
                <a:solidFill>
                  <a:srgbClr val="4E606E"/>
                </a:solidFill>
                <a:latin typeface="Menlo"/>
              </a:rPr>
              <a:t>en</a:t>
            </a:r>
            <a:r>
              <a:rPr sz="800" b="0" spc="30" dirty="0">
                <a:solidFill>
                  <a:srgbClr val="4E606E"/>
                </a:solidFill>
                <a:latin typeface="Menlo"/>
              </a:rPr>
              <a:t> </a:t>
            </a:r>
            <a:r>
              <a:rPr sz="800" b="0" spc="30" dirty="0" err="1">
                <a:solidFill>
                  <a:srgbClr val="4E606E"/>
                </a:solidFill>
                <a:latin typeface="Menlo"/>
              </a:rPr>
              <a:t>lugar</a:t>
            </a:r>
            <a:r>
              <a:rPr sz="800" b="0" spc="30" dirty="0">
                <a:solidFill>
                  <a:srgbClr val="4E606E"/>
                </a:solidFill>
                <a:latin typeface="Menlo"/>
              </a:rPr>
              <a:t> de </a:t>
            </a:r>
            <a:r>
              <a:rPr sz="800" b="0" spc="30" dirty="0" err="1">
                <a:solidFill>
                  <a:srgbClr val="4E606E"/>
                </a:solidFill>
                <a:latin typeface="Menlo"/>
              </a:rPr>
              <a:t>desaparecer</a:t>
            </a:r>
            <a:r>
              <a:rPr sz="800" b="0" spc="30" dirty="0">
                <a:solidFill>
                  <a:srgbClr val="4E606E"/>
                </a:solidFill>
                <a:latin typeface="Menlo"/>
              </a:rPr>
              <a:t> </a:t>
            </a:r>
            <a:r>
              <a:rPr sz="800" b="0" spc="30" dirty="0" err="1">
                <a:solidFill>
                  <a:srgbClr val="4E606E"/>
                </a:solidFill>
                <a:latin typeface="Menlo"/>
              </a:rPr>
              <a:t>en</a:t>
            </a:r>
            <a:r>
              <a:rPr sz="800" b="0" spc="30" dirty="0">
                <a:solidFill>
                  <a:srgbClr val="4E606E"/>
                </a:solidFill>
                <a:latin typeface="Menlo"/>
              </a:rPr>
              <a:t> </a:t>
            </a:r>
            <a:r>
              <a:rPr sz="800" b="0" spc="30" dirty="0" err="1">
                <a:solidFill>
                  <a:srgbClr val="4E606E"/>
                </a:solidFill>
                <a:latin typeface="Menlo"/>
              </a:rPr>
              <a:t>silencio</a:t>
            </a:r>
            <a:r>
              <a:rPr sz="800" b="0" spc="30" dirty="0">
                <a:solidFill>
                  <a:srgbClr val="4E606E"/>
                </a:solidFill>
                <a:latin typeface="Menlo"/>
              </a:rPr>
              <a:t>. Ese </a:t>
            </a:r>
            <a:r>
              <a:rPr sz="800" b="0" spc="30" dirty="0" err="1">
                <a:solidFill>
                  <a:srgbClr val="4E606E"/>
                </a:solidFill>
                <a:latin typeface="Menlo"/>
              </a:rPr>
              <a:t>registro</a:t>
            </a:r>
            <a:r>
              <a:rPr sz="800" b="0" spc="30" dirty="0">
                <a:solidFill>
                  <a:srgbClr val="4E606E"/>
                </a:solidFill>
                <a:latin typeface="Menlo"/>
              </a:rPr>
              <a:t>, y no </a:t>
            </a:r>
            <a:r>
              <a:rPr sz="800" b="0" spc="30" dirty="0" err="1">
                <a:solidFill>
                  <a:srgbClr val="4E606E"/>
                </a:solidFill>
                <a:latin typeface="Menlo"/>
              </a:rPr>
              <a:t>una</a:t>
            </a:r>
            <a:r>
              <a:rPr sz="800" b="0" spc="30" dirty="0">
                <a:solidFill>
                  <a:srgbClr val="4E606E"/>
                </a:solidFill>
                <a:latin typeface="Menlo"/>
              </a:rPr>
              <a:t> </a:t>
            </a:r>
            <a:r>
              <a:rPr sz="800" b="0" spc="30" dirty="0" err="1">
                <a:solidFill>
                  <a:srgbClr val="4E606E"/>
                </a:solidFill>
                <a:latin typeface="Menlo"/>
              </a:rPr>
              <a:t>afirmación</a:t>
            </a:r>
            <a:r>
              <a:rPr sz="800" b="0" spc="30" dirty="0">
                <a:solidFill>
                  <a:srgbClr val="4E606E"/>
                </a:solidFill>
                <a:latin typeface="Menlo"/>
              </a:rPr>
              <a:t> de </a:t>
            </a:r>
            <a:r>
              <a:rPr sz="800" b="0" spc="30" dirty="0" err="1">
                <a:solidFill>
                  <a:srgbClr val="4E606E"/>
                </a:solidFill>
                <a:latin typeface="Menlo"/>
              </a:rPr>
              <a:t>mercadeo</a:t>
            </a:r>
            <a:r>
              <a:rPr sz="800" b="0" spc="30" dirty="0">
                <a:solidFill>
                  <a:srgbClr val="4E606E"/>
                </a:solidFill>
                <a:latin typeface="Menlo"/>
              </a:rPr>
              <a:t>, es el </a:t>
            </a:r>
            <a:r>
              <a:rPr sz="800" b="0" spc="30" dirty="0" err="1">
                <a:solidFill>
                  <a:srgbClr val="4E606E"/>
                </a:solidFill>
                <a:latin typeface="Menlo"/>
              </a:rPr>
              <a:t>argumento</a:t>
            </a:r>
            <a:r>
              <a:rPr sz="800" b="0" spc="30" dirty="0">
                <a:solidFill>
                  <a:srgbClr val="4E606E"/>
                </a:solidFill>
                <a:latin typeface="Menlo"/>
              </a:rPr>
              <a:t> de confianza — y </a:t>
            </a:r>
            <a:r>
              <a:rPr sz="800" b="0" spc="30" dirty="0" err="1">
                <a:solidFill>
                  <a:srgbClr val="4E606E"/>
                </a:solidFill>
                <a:latin typeface="Menlo"/>
              </a:rPr>
              <a:t>está</a:t>
            </a:r>
            <a:r>
              <a:rPr sz="800" b="0" spc="30" dirty="0">
                <a:solidFill>
                  <a:srgbClr val="4E606E"/>
                </a:solidFill>
                <a:latin typeface="Menlo"/>
              </a:rPr>
              <a:t> disponible para </a:t>
            </a:r>
            <a:r>
              <a:rPr sz="800" b="0" spc="30" dirty="0" err="1">
                <a:solidFill>
                  <a:srgbClr val="4E606E"/>
                </a:solidFill>
                <a:latin typeface="Menlo"/>
              </a:rPr>
              <a:t>revisión</a:t>
            </a:r>
            <a:r>
              <a:rPr sz="800" b="0" spc="30" dirty="0">
                <a:solidFill>
                  <a:srgbClr val="4E606E"/>
                </a:solidFill>
                <a:latin typeface="Menlo"/>
              </a:rPr>
              <a:t> del Departamento.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566928"/>
            <a:ext cx="5943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spc="160">
                <a:solidFill>
                  <a:srgbClr val="4FD6E8"/>
                </a:solidFill>
                <a:latin typeface="Menlo"/>
              </a:rPr>
              <a:t>04   </a:t>
            </a:r>
            <a:r>
              <a:rPr sz="1000" b="0" spc="160">
                <a:solidFill>
                  <a:srgbClr val="4E606E"/>
                </a:solidFill>
                <a:latin typeface="Menlo"/>
              </a:rPr>
              <a:t>ALIANZA PROPUESTA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89727" y="566928"/>
            <a:ext cx="60350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spc="160">
                <a:solidFill>
                  <a:srgbClr val="4E606E"/>
                </a:solidFill>
                <a:latin typeface="Menlo"/>
              </a:rPr>
              <a:t>TÉRMINOS EN RESUMEN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9525"/>
          </a:xfrm>
          <a:prstGeom prst="rect">
            <a:avLst/>
          </a:prstGeom>
          <a:solidFill>
            <a:srgbClr val="1F2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393192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800" b="1" spc="-110">
                <a:solidFill>
                  <a:srgbClr val="DCE6EC"/>
                </a:solidFill>
                <a:latin typeface="Helvetica Neue"/>
              </a:rPr>
              <a:t>Un préstamo, datos para investigación y una línea clara sobre la propiedad.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962656"/>
            <a:ext cx="3931920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1000"/>
              </a:spcAft>
            </a:pPr>
            <a:r>
              <a:rPr sz="1150" b="0">
                <a:solidFill>
                  <a:srgbClr val="A8BAC6"/>
                </a:solidFill>
                <a:latin typeface="Helvetica Neue"/>
              </a:rPr>
              <a:t>La plataforma se ofrece a la Universidad El Bosque </a:t>
            </a:r>
            <a:r>
              <a:rPr sz="1150" b="1">
                <a:solidFill>
                  <a:srgbClr val="DCE6EC"/>
                </a:solidFill>
                <a:latin typeface="Helvetica Neue"/>
              </a:rPr>
              <a:t>sin costo de licencia</a:t>
            </a:r>
            <a:r>
              <a:rPr sz="1150" b="0">
                <a:solidFill>
                  <a:srgbClr val="A8BAC6"/>
                </a:solidFill>
                <a:latin typeface="Helvetica Neue"/>
              </a:rPr>
              <a:t> para uso curricular. A cambio, el despliegue se instrumenta para estudiar y publicar la efectividad educativa de la herramienta — trabajo en el que la Universidad figura con crédito y del que se beneficia.</a:t>
            </a:r>
          </a:p>
          <a:p>
            <a:pPr algn="l">
              <a:lnSpc>
                <a:spcPct val="142000"/>
              </a:lnSpc>
              <a:spcAft>
                <a:spcPts val="1000"/>
              </a:spcAft>
            </a:pPr>
            <a:r>
              <a:rPr sz="1150" b="0">
                <a:solidFill>
                  <a:srgbClr val="A8BAC6"/>
                </a:solidFill>
                <a:latin typeface="Helvetica Neue"/>
              </a:rPr>
              <a:t>El intercambio es deliberadamente simple: </a:t>
            </a:r>
            <a:r>
              <a:rPr sz="1150" b="1">
                <a:solidFill>
                  <a:srgbClr val="DCE6EC"/>
                </a:solidFill>
                <a:latin typeface="Helvetica Neue"/>
              </a:rPr>
              <a:t>la Universidad recibe el valor pedagógico; el autor conserva el activo.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1768" y="1188720"/>
            <a:ext cx="3247491" cy="4078224"/>
          </a:xfrm>
          <a:prstGeom prst="rect">
            <a:avLst/>
          </a:prstGeom>
          <a:solidFill>
            <a:srgbClr val="121A22"/>
          </a:solidFill>
          <a:ln w="9525">
            <a:solidFill>
              <a:srgbClr val="1F2C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202936" y="1371600"/>
            <a:ext cx="284515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130">
                <a:solidFill>
                  <a:srgbClr val="4FD6E8"/>
                </a:solidFill>
                <a:latin typeface="Menlo"/>
              </a:rPr>
              <a:t>LA UNIVERSIDAD RECIBE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02936" y="1737360"/>
            <a:ext cx="16459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4FD6E8"/>
                </a:solidFill>
                <a:latin typeface="Menlo"/>
              </a:rPr>
              <a:t>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4104" y="1723644"/>
            <a:ext cx="2643987" cy="6822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dirty="0" err="1">
                <a:solidFill>
                  <a:srgbClr val="DCE6EC"/>
                </a:solidFill>
                <a:latin typeface="Helvetica Neue"/>
              </a:rPr>
              <a:t>Acceso</a:t>
            </a:r>
            <a:r>
              <a:rPr sz="950" b="1" dirty="0">
                <a:solidFill>
                  <a:srgbClr val="DCE6EC"/>
                </a:solidFill>
                <a:latin typeface="Helvetica Neue"/>
              </a:rPr>
              <a:t> curricular </a:t>
            </a:r>
            <a:r>
              <a:rPr sz="950" b="1" dirty="0" err="1">
                <a:solidFill>
                  <a:srgbClr val="DCE6EC"/>
                </a:solidFill>
                <a:latin typeface="Helvetica Neue"/>
              </a:rPr>
              <a:t>completo</a:t>
            </a:r>
            <a:r>
              <a:rPr sz="950" b="0" dirty="0">
                <a:solidFill>
                  <a:srgbClr val="7D909E"/>
                </a:solidFill>
                <a:latin typeface="Helvetica Neue"/>
              </a:rPr>
              <a:t> para </a:t>
            </a:r>
            <a:r>
              <a:rPr sz="950" b="0" dirty="0" err="1">
                <a:solidFill>
                  <a:srgbClr val="7D909E"/>
                </a:solidFill>
                <a:latin typeface="Helvetica Neue"/>
              </a:rPr>
              <a:t>estudiantes</a:t>
            </a:r>
            <a:r>
              <a:rPr sz="950" b="0" dirty="0">
                <a:solidFill>
                  <a:srgbClr val="7D909E"/>
                </a:solidFill>
                <a:latin typeface="Helvetica Neue"/>
              </a:rPr>
              <a:t>, </a:t>
            </a:r>
            <a:r>
              <a:rPr sz="950" b="0" dirty="0" err="1">
                <a:solidFill>
                  <a:srgbClr val="7D909E"/>
                </a:solidFill>
                <a:latin typeface="Helvetica Neue"/>
              </a:rPr>
              <a:t>residentes</a:t>
            </a:r>
            <a:r>
              <a:rPr sz="950" b="0" dirty="0">
                <a:solidFill>
                  <a:srgbClr val="7D909E"/>
                </a:solidFill>
                <a:latin typeface="Helvetica Neue"/>
              </a:rPr>
              <a:t> y </a:t>
            </a:r>
            <a:r>
              <a:rPr sz="950" b="0" dirty="0" err="1">
                <a:solidFill>
                  <a:srgbClr val="7D909E"/>
                </a:solidFill>
                <a:latin typeface="Helvetica Neue"/>
              </a:rPr>
              <a:t>docentes</a:t>
            </a:r>
            <a:r>
              <a:rPr sz="950" b="0" dirty="0">
                <a:solidFill>
                  <a:srgbClr val="7D909E"/>
                </a:solidFill>
                <a:latin typeface="Helvetica Neue"/>
              </a:rPr>
              <a:t> </a:t>
            </a:r>
            <a:r>
              <a:rPr sz="950" b="0" dirty="0" err="1">
                <a:solidFill>
                  <a:srgbClr val="7D909E"/>
                </a:solidFill>
                <a:latin typeface="Helvetica Neue"/>
              </a:rPr>
              <a:t>vinculados</a:t>
            </a:r>
            <a:r>
              <a:rPr sz="950" b="0" dirty="0">
                <a:solidFill>
                  <a:srgbClr val="7D909E"/>
                </a:solidFill>
                <a:latin typeface="Helvetica Neue"/>
              </a:rPr>
              <a:t>, sin </a:t>
            </a:r>
            <a:r>
              <a:rPr sz="950" b="0" dirty="0" err="1">
                <a:solidFill>
                  <a:srgbClr val="7D909E"/>
                </a:solidFill>
                <a:latin typeface="Helvetica Neue"/>
              </a:rPr>
              <a:t>costo</a:t>
            </a:r>
            <a:r>
              <a:rPr sz="950" b="0" dirty="0">
                <a:solidFill>
                  <a:srgbClr val="7D909E"/>
                </a:solidFill>
                <a:latin typeface="Helvetica Neue"/>
              </a:rPr>
              <a:t> de </a:t>
            </a:r>
            <a:r>
              <a:rPr sz="950" b="0" dirty="0" err="1">
                <a:solidFill>
                  <a:srgbClr val="7D909E"/>
                </a:solidFill>
                <a:latin typeface="Helvetica Neue"/>
              </a:rPr>
              <a:t>licencia</a:t>
            </a:r>
            <a:r>
              <a:rPr sz="950" b="0" dirty="0">
                <a:solidFill>
                  <a:srgbClr val="7D909E"/>
                </a:solidFill>
                <a:latin typeface="Helvetica Neue"/>
              </a:rPr>
              <a:t>, </a:t>
            </a:r>
            <a:r>
              <a:rPr sz="950" b="0" dirty="0" err="1">
                <a:solidFill>
                  <a:srgbClr val="7D909E"/>
                </a:solidFill>
                <a:latin typeface="Helvetica Neue"/>
              </a:rPr>
              <a:t>durante</a:t>
            </a:r>
            <a:r>
              <a:rPr sz="950" b="0" dirty="0">
                <a:solidFill>
                  <a:srgbClr val="7D909E"/>
                </a:solidFill>
                <a:latin typeface="Helvetica Neue"/>
              </a:rPr>
              <a:t> la </a:t>
            </a:r>
            <a:r>
              <a:rPr sz="950" b="0" dirty="0" err="1">
                <a:solidFill>
                  <a:srgbClr val="7D909E"/>
                </a:solidFill>
                <a:latin typeface="Helvetica Neue"/>
              </a:rPr>
              <a:t>vigencia</a:t>
            </a:r>
            <a:r>
              <a:rPr sz="950" b="0" dirty="0">
                <a:solidFill>
                  <a:srgbClr val="7D909E"/>
                </a:solidFill>
                <a:latin typeface="Helvetica Neue"/>
              </a:rPr>
              <a:t> </a:t>
            </a:r>
            <a:r>
              <a:rPr sz="950" b="0" dirty="0" err="1">
                <a:solidFill>
                  <a:srgbClr val="7D909E"/>
                </a:solidFill>
                <a:latin typeface="Helvetica Neue"/>
              </a:rPr>
              <a:t>acordada</a:t>
            </a:r>
            <a:r>
              <a:rPr sz="950" b="0" dirty="0">
                <a:solidFill>
                  <a:srgbClr val="7D909E"/>
                </a:solidFill>
                <a:latin typeface="Helvetica Neue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02936" y="2407348"/>
            <a:ext cx="16459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4FD6E8"/>
                </a:solidFill>
                <a:latin typeface="Menlo"/>
              </a:rPr>
              <a:t>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4104" y="2393632"/>
            <a:ext cx="2643987" cy="6822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dirty="0" err="1">
                <a:solidFill>
                  <a:srgbClr val="DCE6EC"/>
                </a:solidFill>
                <a:latin typeface="Helvetica Neue"/>
              </a:rPr>
              <a:t>Equidad</a:t>
            </a:r>
            <a:r>
              <a:rPr sz="950" b="1" dirty="0">
                <a:solidFill>
                  <a:srgbClr val="DCE6EC"/>
                </a:solidFill>
                <a:latin typeface="Helvetica Neue"/>
              </a:rPr>
              <a:t> </a:t>
            </a:r>
            <a:r>
              <a:rPr sz="950" b="1" dirty="0" err="1">
                <a:solidFill>
                  <a:srgbClr val="DCE6EC"/>
                </a:solidFill>
                <a:latin typeface="Helvetica Neue"/>
              </a:rPr>
              <a:t>evaluativa</a:t>
            </a:r>
            <a:r>
              <a:rPr sz="950" b="0" dirty="0">
                <a:solidFill>
                  <a:srgbClr val="7D909E"/>
                </a:solidFill>
                <a:latin typeface="Helvetica Neue"/>
              </a:rPr>
              <a:t> — </a:t>
            </a:r>
            <a:r>
              <a:rPr sz="950" b="0" dirty="0" err="1">
                <a:solidFill>
                  <a:srgbClr val="7D909E"/>
                </a:solidFill>
                <a:latin typeface="Helvetica Neue"/>
              </a:rPr>
              <a:t>cada</a:t>
            </a:r>
            <a:r>
              <a:rPr sz="950" b="0" dirty="0">
                <a:solidFill>
                  <a:srgbClr val="7D909E"/>
                </a:solidFill>
                <a:latin typeface="Helvetica Neue"/>
              </a:rPr>
              <a:t> </a:t>
            </a:r>
            <a:r>
              <a:rPr sz="950" b="0" dirty="0" err="1">
                <a:solidFill>
                  <a:srgbClr val="7D909E"/>
                </a:solidFill>
                <a:latin typeface="Helvetica Neue"/>
              </a:rPr>
              <a:t>estudiante</a:t>
            </a:r>
            <a:r>
              <a:rPr sz="950" b="0" dirty="0">
                <a:solidFill>
                  <a:srgbClr val="7D909E"/>
                </a:solidFill>
                <a:latin typeface="Helvetica Neue"/>
              </a:rPr>
              <a:t> </a:t>
            </a:r>
            <a:r>
              <a:rPr sz="950" b="0" dirty="0" err="1">
                <a:solidFill>
                  <a:srgbClr val="7D909E"/>
                </a:solidFill>
                <a:latin typeface="Helvetica Neue"/>
              </a:rPr>
              <a:t>enfrenta</a:t>
            </a:r>
            <a:r>
              <a:rPr sz="950" b="0" dirty="0">
                <a:solidFill>
                  <a:srgbClr val="7D909E"/>
                </a:solidFill>
                <a:latin typeface="Helvetica Neue"/>
              </a:rPr>
              <a:t> un </a:t>
            </a:r>
            <a:r>
              <a:rPr sz="950" b="0" dirty="0" err="1">
                <a:solidFill>
                  <a:srgbClr val="7D909E"/>
                </a:solidFill>
                <a:latin typeface="Helvetica Neue"/>
              </a:rPr>
              <a:t>caso</a:t>
            </a:r>
            <a:r>
              <a:rPr sz="950" b="0" dirty="0">
                <a:solidFill>
                  <a:srgbClr val="7D909E"/>
                </a:solidFill>
                <a:latin typeface="Helvetica Neue"/>
              </a:rPr>
              <a:t> </a:t>
            </a:r>
            <a:r>
              <a:rPr sz="950" b="0" dirty="0" err="1">
                <a:solidFill>
                  <a:srgbClr val="7D909E"/>
                </a:solidFill>
                <a:latin typeface="Helvetica Neue"/>
              </a:rPr>
              <a:t>idéntico</a:t>
            </a:r>
            <a:r>
              <a:rPr sz="950" b="0" dirty="0">
                <a:solidFill>
                  <a:srgbClr val="7D909E"/>
                </a:solidFill>
                <a:latin typeface="Helvetica Neue"/>
              </a:rPr>
              <a:t> bit a bit, con </a:t>
            </a:r>
            <a:r>
              <a:rPr sz="950" b="0" dirty="0" err="1">
                <a:solidFill>
                  <a:srgbClr val="7D909E"/>
                </a:solidFill>
                <a:latin typeface="Helvetica Neue"/>
              </a:rPr>
              <a:t>calificación</a:t>
            </a:r>
            <a:r>
              <a:rPr sz="950" b="0" dirty="0">
                <a:solidFill>
                  <a:srgbClr val="7D909E"/>
                </a:solidFill>
                <a:latin typeface="Helvetica Neue"/>
              </a:rPr>
              <a:t> </a:t>
            </a:r>
            <a:r>
              <a:rPr sz="950" b="0" dirty="0" err="1">
                <a:solidFill>
                  <a:srgbClr val="7D909E"/>
                </a:solidFill>
                <a:latin typeface="Helvetica Neue"/>
              </a:rPr>
              <a:t>objetiva</a:t>
            </a:r>
            <a:r>
              <a:rPr sz="950" b="0" dirty="0">
                <a:solidFill>
                  <a:srgbClr val="7D909E"/>
                </a:solidFill>
                <a:latin typeface="Helvetica Neue"/>
              </a:rPr>
              <a:t> </a:t>
            </a:r>
            <a:r>
              <a:rPr sz="950" b="0" dirty="0" err="1">
                <a:solidFill>
                  <a:srgbClr val="7D909E"/>
                </a:solidFill>
                <a:latin typeface="Helvetica Neue"/>
              </a:rPr>
              <a:t>automática</a:t>
            </a:r>
            <a:r>
              <a:rPr sz="950" b="0" dirty="0">
                <a:solidFill>
                  <a:srgbClr val="7D909E"/>
                </a:solidFill>
                <a:latin typeface="Helvetica Neue"/>
              </a:rPr>
              <a:t> </a:t>
            </a:r>
            <a:r>
              <a:rPr sz="950" b="0" dirty="0" err="1">
                <a:solidFill>
                  <a:srgbClr val="7D909E"/>
                </a:solidFill>
                <a:latin typeface="Helvetica Neue"/>
              </a:rPr>
              <a:t>en</a:t>
            </a:r>
            <a:r>
              <a:rPr sz="950" b="0" dirty="0">
                <a:solidFill>
                  <a:srgbClr val="7D909E"/>
                </a:solidFill>
                <a:latin typeface="Helvetica Neue"/>
              </a:rPr>
              <a:t> seis </a:t>
            </a:r>
            <a:r>
              <a:rPr sz="950" b="0" dirty="0" err="1">
                <a:solidFill>
                  <a:srgbClr val="7D909E"/>
                </a:solidFill>
                <a:latin typeface="Helvetica Neue"/>
              </a:rPr>
              <a:t>dominios</a:t>
            </a:r>
            <a:r>
              <a:rPr sz="950" b="0" dirty="0">
                <a:solidFill>
                  <a:srgbClr val="7D909E"/>
                </a:solidFill>
                <a:latin typeface="Helvetica Neue"/>
              </a:rPr>
              <a:t> de </a:t>
            </a:r>
            <a:r>
              <a:rPr sz="950" b="0" dirty="0" err="1">
                <a:solidFill>
                  <a:srgbClr val="7D909E"/>
                </a:solidFill>
                <a:latin typeface="Helvetica Neue"/>
              </a:rPr>
              <a:t>competencia</a:t>
            </a:r>
            <a:r>
              <a:rPr sz="950" b="0" dirty="0">
                <a:solidFill>
                  <a:srgbClr val="7D909E"/>
                </a:solidFill>
                <a:latin typeface="Helvetica Neue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02936" y="3273171"/>
            <a:ext cx="16459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4FD6E8"/>
                </a:solidFill>
                <a:latin typeface="Menlo"/>
              </a:rPr>
              <a:t>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04104" y="3259455"/>
            <a:ext cx="2643987" cy="525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>
                <a:solidFill>
                  <a:srgbClr val="DCE6EC"/>
                </a:solidFill>
                <a:latin typeface="Helvetica Neue"/>
              </a:rPr>
              <a:t>Colaboración con crédito</a:t>
            </a:r>
            <a:r>
              <a:rPr sz="950" b="0">
                <a:solidFill>
                  <a:srgbClr val="7D909E"/>
                </a:solidFill>
                <a:latin typeface="Helvetica Neue"/>
              </a:rPr>
              <a:t> en la investigación de resultados educativos, con coautoría docente en las publicaciones.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02936" y="3968178"/>
            <a:ext cx="16459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4FD6E8"/>
                </a:solidFill>
                <a:latin typeface="Menlo"/>
              </a:rPr>
              <a:t>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4104" y="3954462"/>
            <a:ext cx="2643987" cy="8390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dirty="0" err="1">
                <a:solidFill>
                  <a:srgbClr val="DCE6EC"/>
                </a:solidFill>
                <a:latin typeface="Helvetica Neue"/>
              </a:rPr>
              <a:t>Acompañamiento</a:t>
            </a:r>
            <a:r>
              <a:rPr sz="950" b="1" dirty="0">
                <a:solidFill>
                  <a:srgbClr val="DCE6EC"/>
                </a:solidFill>
                <a:latin typeface="Helvetica Neue"/>
              </a:rPr>
              <a:t> </a:t>
            </a:r>
            <a:r>
              <a:rPr sz="950" b="1" dirty="0" err="1">
                <a:solidFill>
                  <a:srgbClr val="DCE6EC"/>
                </a:solidFill>
                <a:latin typeface="Helvetica Neue"/>
              </a:rPr>
              <a:t>en</a:t>
            </a:r>
            <a:r>
              <a:rPr sz="950" b="1" dirty="0">
                <a:solidFill>
                  <a:srgbClr val="DCE6EC"/>
                </a:solidFill>
                <a:latin typeface="Helvetica Neue"/>
              </a:rPr>
              <a:t> la </a:t>
            </a:r>
            <a:r>
              <a:rPr sz="950" b="1" dirty="0" err="1">
                <a:solidFill>
                  <a:srgbClr val="DCE6EC"/>
                </a:solidFill>
                <a:latin typeface="Helvetica Neue"/>
              </a:rPr>
              <a:t>integración</a:t>
            </a:r>
            <a:r>
              <a:rPr sz="950" b="1" dirty="0">
                <a:solidFill>
                  <a:srgbClr val="DCE6EC"/>
                </a:solidFill>
                <a:latin typeface="Helvetica Neue"/>
              </a:rPr>
              <a:t> curricular</a:t>
            </a:r>
            <a:r>
              <a:rPr sz="950" b="0" dirty="0">
                <a:solidFill>
                  <a:srgbClr val="7D909E"/>
                </a:solidFill>
                <a:latin typeface="Helvetica Neue"/>
              </a:rPr>
              <a:t> y </a:t>
            </a:r>
            <a:r>
              <a:rPr sz="950" b="0" dirty="0" err="1">
                <a:solidFill>
                  <a:srgbClr val="7D909E"/>
                </a:solidFill>
                <a:latin typeface="Helvetica Neue"/>
              </a:rPr>
              <a:t>construcción</a:t>
            </a:r>
            <a:r>
              <a:rPr sz="950" b="0" dirty="0">
                <a:solidFill>
                  <a:srgbClr val="7D909E"/>
                </a:solidFill>
                <a:latin typeface="Helvetica Neue"/>
              </a:rPr>
              <a:t> de </a:t>
            </a:r>
            <a:r>
              <a:rPr sz="950" b="0" dirty="0" err="1">
                <a:solidFill>
                  <a:srgbClr val="7D909E"/>
                </a:solidFill>
                <a:latin typeface="Helvetica Neue"/>
              </a:rPr>
              <a:t>casos</a:t>
            </a:r>
            <a:r>
              <a:rPr sz="950" b="0" dirty="0">
                <a:solidFill>
                  <a:srgbClr val="7D909E"/>
                </a:solidFill>
                <a:latin typeface="Helvetica Neue"/>
              </a:rPr>
              <a:t> </a:t>
            </a:r>
            <a:r>
              <a:rPr sz="950" b="0" dirty="0" err="1">
                <a:solidFill>
                  <a:srgbClr val="7D909E"/>
                </a:solidFill>
                <a:latin typeface="Helvetica Neue"/>
              </a:rPr>
              <a:t>alineados</a:t>
            </a:r>
            <a:r>
              <a:rPr sz="950" b="0" dirty="0">
                <a:solidFill>
                  <a:srgbClr val="7D909E"/>
                </a:solidFill>
                <a:latin typeface="Helvetica Neue"/>
              </a:rPr>
              <a:t> con </a:t>
            </a:r>
            <a:r>
              <a:rPr sz="950" b="0" dirty="0" err="1">
                <a:solidFill>
                  <a:srgbClr val="7D909E"/>
                </a:solidFill>
                <a:latin typeface="Helvetica Neue"/>
              </a:rPr>
              <a:t>los</a:t>
            </a:r>
            <a:r>
              <a:rPr sz="950" b="0" dirty="0">
                <a:solidFill>
                  <a:srgbClr val="7D909E"/>
                </a:solidFill>
                <a:latin typeface="Helvetica Neue"/>
              </a:rPr>
              <a:t> </a:t>
            </a:r>
            <a:r>
              <a:rPr sz="950" b="0" dirty="0" err="1">
                <a:solidFill>
                  <a:srgbClr val="7D909E"/>
                </a:solidFill>
                <a:latin typeface="Helvetica Neue"/>
              </a:rPr>
              <a:t>objetivos</a:t>
            </a:r>
            <a:r>
              <a:rPr sz="950" b="0" dirty="0">
                <a:solidFill>
                  <a:srgbClr val="7D909E"/>
                </a:solidFill>
                <a:latin typeface="Helvetica Neue"/>
              </a:rPr>
              <a:t> de </a:t>
            </a:r>
            <a:r>
              <a:rPr sz="950" b="0" dirty="0" err="1">
                <a:solidFill>
                  <a:srgbClr val="7D909E"/>
                </a:solidFill>
                <a:latin typeface="Helvetica Neue"/>
              </a:rPr>
              <a:t>rotación</a:t>
            </a:r>
            <a:r>
              <a:rPr sz="950" b="0" dirty="0">
                <a:solidFill>
                  <a:srgbClr val="7D909E"/>
                </a:solidFill>
                <a:latin typeface="Helvetica Neue"/>
              </a:rPr>
              <a:t> y el </a:t>
            </a:r>
            <a:r>
              <a:rPr sz="950" b="0" dirty="0" err="1">
                <a:solidFill>
                  <a:srgbClr val="7D909E"/>
                </a:solidFill>
                <a:latin typeface="Helvetica Neue"/>
              </a:rPr>
              <a:t>enfoque</a:t>
            </a:r>
            <a:r>
              <a:rPr sz="950" b="0" dirty="0">
                <a:solidFill>
                  <a:srgbClr val="7D909E"/>
                </a:solidFill>
                <a:latin typeface="Helvetica Neue"/>
              </a:rPr>
              <a:t> </a:t>
            </a:r>
            <a:r>
              <a:rPr sz="950" b="0" dirty="0" err="1">
                <a:solidFill>
                  <a:srgbClr val="7D909E"/>
                </a:solidFill>
                <a:latin typeface="Helvetica Neue"/>
              </a:rPr>
              <a:t>biopsicosocial</a:t>
            </a:r>
            <a:r>
              <a:rPr sz="950" b="0" dirty="0">
                <a:solidFill>
                  <a:srgbClr val="7D909E"/>
                </a:solidFill>
                <a:latin typeface="Helvetica Neue"/>
              </a:rPr>
              <a:t> y cultural de la Universidad.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77275" y="1188720"/>
            <a:ext cx="3247491" cy="4078224"/>
          </a:xfrm>
          <a:prstGeom prst="rect">
            <a:avLst/>
          </a:prstGeom>
          <a:solidFill>
            <a:srgbClr val="121A22"/>
          </a:solidFill>
          <a:ln w="9525">
            <a:solidFill>
              <a:srgbClr val="1F2C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78443" y="1371600"/>
            <a:ext cx="284515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130">
                <a:solidFill>
                  <a:srgbClr val="F4555E"/>
                </a:solidFill>
                <a:latin typeface="Menlo"/>
              </a:rPr>
              <a:t>EL AUTOR CONSERVA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78443" y="1737360"/>
            <a:ext cx="16459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F4555E"/>
                </a:solidFill>
                <a:latin typeface="Menlo"/>
              </a:rPr>
              <a:t>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9611" y="1723644"/>
            <a:ext cx="2643987" cy="9959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>
                <a:solidFill>
                  <a:srgbClr val="DCE6EC"/>
                </a:solidFill>
                <a:latin typeface="Helvetica Neue"/>
              </a:rPr>
              <a:t>Titularidad única y exclusiva</a:t>
            </a:r>
            <a:r>
              <a:rPr sz="950" b="0">
                <a:solidFill>
                  <a:srgbClr val="7D909E"/>
                </a:solidFill>
                <a:latin typeface="Helvetica Neue"/>
              </a:rPr>
              <a:t> de los derechos patrimoniales de autor sobre código, motores, modelos, contenido y nombre — creados de forma independiente, fuera de todo vínculo laboral, instalación o financiación de la Universidad.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78443" y="2907030"/>
            <a:ext cx="16459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dirty="0">
                <a:solidFill>
                  <a:srgbClr val="F4555E"/>
                </a:solidFill>
                <a:latin typeface="Menlo"/>
              </a:rPr>
              <a:t>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9611" y="2893314"/>
            <a:ext cx="2643987" cy="6822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dirty="0" err="1">
                <a:solidFill>
                  <a:srgbClr val="DCE6EC"/>
                </a:solidFill>
                <a:latin typeface="Helvetica Neue"/>
              </a:rPr>
              <a:t>Licencia</a:t>
            </a:r>
            <a:r>
              <a:rPr sz="950" b="1" dirty="0">
                <a:solidFill>
                  <a:srgbClr val="DCE6EC"/>
                </a:solidFill>
                <a:latin typeface="Helvetica Neue"/>
              </a:rPr>
              <a:t> de </a:t>
            </a:r>
            <a:r>
              <a:rPr sz="950" b="1" dirty="0" err="1">
                <a:solidFill>
                  <a:srgbClr val="DCE6EC"/>
                </a:solidFill>
                <a:latin typeface="Helvetica Neue"/>
              </a:rPr>
              <a:t>uso</a:t>
            </a:r>
            <a:r>
              <a:rPr sz="950" b="1" dirty="0">
                <a:solidFill>
                  <a:srgbClr val="DCE6EC"/>
                </a:solidFill>
                <a:latin typeface="Helvetica Neue"/>
              </a:rPr>
              <a:t> revocable, no </a:t>
            </a:r>
            <a:r>
              <a:rPr sz="950" b="1" dirty="0" err="1">
                <a:solidFill>
                  <a:srgbClr val="DCE6EC"/>
                </a:solidFill>
                <a:latin typeface="Helvetica Neue"/>
              </a:rPr>
              <a:t>una</a:t>
            </a:r>
            <a:r>
              <a:rPr sz="950" b="1" dirty="0">
                <a:solidFill>
                  <a:srgbClr val="DCE6EC"/>
                </a:solidFill>
                <a:latin typeface="Helvetica Neue"/>
              </a:rPr>
              <a:t> </a:t>
            </a:r>
            <a:r>
              <a:rPr sz="950" b="1" dirty="0" err="1">
                <a:solidFill>
                  <a:srgbClr val="DCE6EC"/>
                </a:solidFill>
                <a:latin typeface="Helvetica Neue"/>
              </a:rPr>
              <a:t>cesión</a:t>
            </a:r>
            <a:r>
              <a:rPr sz="950" b="1" dirty="0">
                <a:solidFill>
                  <a:srgbClr val="DCE6EC"/>
                </a:solidFill>
                <a:latin typeface="Helvetica Neue"/>
              </a:rPr>
              <a:t>.</a:t>
            </a:r>
            <a:r>
              <a:rPr sz="950" b="0" dirty="0">
                <a:solidFill>
                  <a:srgbClr val="7D909E"/>
                </a:solidFill>
                <a:latin typeface="Helvetica Neue"/>
              </a:rPr>
              <a:t> El </a:t>
            </a:r>
            <a:r>
              <a:rPr sz="950" b="0" dirty="0" err="1">
                <a:solidFill>
                  <a:srgbClr val="7D909E"/>
                </a:solidFill>
                <a:latin typeface="Helvetica Neue"/>
              </a:rPr>
              <a:t>acceso</a:t>
            </a:r>
            <a:r>
              <a:rPr sz="950" b="0" dirty="0">
                <a:solidFill>
                  <a:srgbClr val="7D909E"/>
                </a:solidFill>
                <a:latin typeface="Helvetica Neue"/>
              </a:rPr>
              <a:t> no </a:t>
            </a:r>
            <a:r>
              <a:rPr sz="950" b="0" dirty="0" err="1">
                <a:solidFill>
                  <a:srgbClr val="7D909E"/>
                </a:solidFill>
                <a:latin typeface="Helvetica Neue"/>
              </a:rPr>
              <a:t>confiere</a:t>
            </a:r>
            <a:r>
              <a:rPr sz="950" b="0" dirty="0">
                <a:solidFill>
                  <a:srgbClr val="7D909E"/>
                </a:solidFill>
                <a:latin typeface="Helvetica Neue"/>
              </a:rPr>
              <a:t> </a:t>
            </a:r>
            <a:r>
              <a:rPr sz="950" b="0" dirty="0" err="1">
                <a:solidFill>
                  <a:srgbClr val="7D909E"/>
                </a:solidFill>
                <a:latin typeface="Helvetica Neue"/>
              </a:rPr>
              <a:t>titularidad</a:t>
            </a:r>
            <a:r>
              <a:rPr sz="950" b="0" dirty="0">
                <a:solidFill>
                  <a:srgbClr val="7D909E"/>
                </a:solidFill>
                <a:latin typeface="Helvetica Neue"/>
              </a:rPr>
              <a:t>, </a:t>
            </a:r>
            <a:r>
              <a:rPr sz="950" b="0" dirty="0" err="1">
                <a:solidFill>
                  <a:srgbClr val="7D909E"/>
                </a:solidFill>
                <a:latin typeface="Helvetica Neue"/>
              </a:rPr>
              <a:t>cotitularidad</a:t>
            </a:r>
            <a:r>
              <a:rPr sz="950" b="0" dirty="0">
                <a:solidFill>
                  <a:srgbClr val="7D909E"/>
                </a:solidFill>
                <a:latin typeface="Helvetica Neue"/>
              </a:rPr>
              <a:t>, </a:t>
            </a:r>
            <a:r>
              <a:rPr sz="950" b="0" dirty="0" err="1">
                <a:solidFill>
                  <a:srgbClr val="7D909E"/>
                </a:solidFill>
                <a:latin typeface="Helvetica Neue"/>
              </a:rPr>
              <a:t>obra</a:t>
            </a:r>
            <a:r>
              <a:rPr sz="950" b="0" dirty="0">
                <a:solidFill>
                  <a:srgbClr val="7D909E"/>
                </a:solidFill>
                <a:latin typeface="Helvetica Neue"/>
              </a:rPr>
              <a:t> </a:t>
            </a:r>
            <a:r>
              <a:rPr sz="950" b="0" dirty="0" err="1">
                <a:solidFill>
                  <a:srgbClr val="7D909E"/>
                </a:solidFill>
                <a:latin typeface="Helvetica Neue"/>
              </a:rPr>
              <a:t>por</a:t>
            </a:r>
            <a:r>
              <a:rPr sz="950" b="0" dirty="0">
                <a:solidFill>
                  <a:srgbClr val="7D909E"/>
                </a:solidFill>
                <a:latin typeface="Helvetica Neue"/>
              </a:rPr>
              <a:t> </a:t>
            </a:r>
            <a:r>
              <a:rPr sz="950" b="0" dirty="0" err="1">
                <a:solidFill>
                  <a:srgbClr val="7D909E"/>
                </a:solidFill>
                <a:latin typeface="Helvetica Neue"/>
              </a:rPr>
              <a:t>encargo</a:t>
            </a:r>
            <a:r>
              <a:rPr sz="950" b="0" dirty="0">
                <a:solidFill>
                  <a:srgbClr val="7D909E"/>
                </a:solidFill>
                <a:latin typeface="Helvetica Neue"/>
              </a:rPr>
              <a:t> </a:t>
            </a:r>
            <a:r>
              <a:rPr sz="950" b="0" dirty="0" err="1">
                <a:solidFill>
                  <a:srgbClr val="7D909E"/>
                </a:solidFill>
                <a:latin typeface="Helvetica Neue"/>
              </a:rPr>
              <a:t>ni</a:t>
            </a:r>
            <a:r>
              <a:rPr sz="950" b="0" dirty="0">
                <a:solidFill>
                  <a:srgbClr val="7D909E"/>
                </a:solidFill>
                <a:latin typeface="Helvetica Neue"/>
              </a:rPr>
              <a:t> derecho </a:t>
            </a:r>
            <a:r>
              <a:rPr sz="950" b="0" dirty="0" err="1">
                <a:solidFill>
                  <a:srgbClr val="7D909E"/>
                </a:solidFill>
                <a:latin typeface="Helvetica Neue"/>
              </a:rPr>
              <a:t>derivado</a:t>
            </a:r>
            <a:r>
              <a:rPr sz="950" b="0" dirty="0">
                <a:solidFill>
                  <a:srgbClr val="7D909E"/>
                </a:solidFill>
                <a:latin typeface="Helvetica Neue"/>
              </a:rPr>
              <a:t> </a:t>
            </a:r>
            <a:r>
              <a:rPr sz="950" b="0" dirty="0" err="1">
                <a:solidFill>
                  <a:srgbClr val="7D909E"/>
                </a:solidFill>
                <a:latin typeface="Helvetica Neue"/>
              </a:rPr>
              <a:t>alguno</a:t>
            </a:r>
            <a:r>
              <a:rPr sz="950" b="0" dirty="0">
                <a:solidFill>
                  <a:srgbClr val="7D909E"/>
                </a:solidFill>
                <a:latin typeface="Helvetica Neue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78443" y="3561842"/>
            <a:ext cx="16459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F4555E"/>
                </a:solidFill>
                <a:latin typeface="Menlo"/>
              </a:rPr>
              <a:t>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9611" y="3548126"/>
            <a:ext cx="2643987" cy="525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dirty="0" err="1">
                <a:solidFill>
                  <a:srgbClr val="DCE6EC"/>
                </a:solidFill>
                <a:latin typeface="Helvetica Neue"/>
              </a:rPr>
              <a:t>Acceso</a:t>
            </a:r>
            <a:r>
              <a:rPr sz="950" b="1" dirty="0">
                <a:solidFill>
                  <a:srgbClr val="DCE6EC"/>
                </a:solidFill>
                <a:latin typeface="Helvetica Neue"/>
              </a:rPr>
              <a:t> pleno a </a:t>
            </a:r>
            <a:r>
              <a:rPr sz="950" b="1" dirty="0" err="1">
                <a:solidFill>
                  <a:srgbClr val="DCE6EC"/>
                </a:solidFill>
                <a:latin typeface="Helvetica Neue"/>
              </a:rPr>
              <a:t>los</a:t>
            </a:r>
            <a:r>
              <a:rPr sz="950" b="1" dirty="0">
                <a:solidFill>
                  <a:srgbClr val="DCE6EC"/>
                </a:solidFill>
                <a:latin typeface="Helvetica Neue"/>
              </a:rPr>
              <a:t> </a:t>
            </a:r>
            <a:r>
              <a:rPr sz="950" b="1" dirty="0" err="1">
                <a:solidFill>
                  <a:srgbClr val="DCE6EC"/>
                </a:solidFill>
                <a:latin typeface="Helvetica Neue"/>
              </a:rPr>
              <a:t>datos</a:t>
            </a:r>
            <a:r>
              <a:rPr sz="950" b="1" dirty="0">
                <a:solidFill>
                  <a:srgbClr val="DCE6EC"/>
                </a:solidFill>
                <a:latin typeface="Helvetica Neue"/>
              </a:rPr>
              <a:t> de </a:t>
            </a:r>
            <a:r>
              <a:rPr sz="950" b="1" dirty="0" err="1">
                <a:solidFill>
                  <a:srgbClr val="DCE6EC"/>
                </a:solidFill>
                <a:latin typeface="Helvetica Neue"/>
              </a:rPr>
              <a:t>desempeño</a:t>
            </a:r>
            <a:r>
              <a:rPr sz="950" b="0" dirty="0">
                <a:solidFill>
                  <a:srgbClr val="7D909E"/>
                </a:solidFill>
                <a:latin typeface="Helvetica Neue"/>
              </a:rPr>
              <a:t> </a:t>
            </a:r>
            <a:r>
              <a:rPr sz="950" b="0" dirty="0" err="1">
                <a:solidFill>
                  <a:srgbClr val="7D909E"/>
                </a:solidFill>
                <a:latin typeface="Helvetica Neue"/>
              </a:rPr>
              <a:t>generados</a:t>
            </a:r>
            <a:r>
              <a:rPr sz="950" b="0" dirty="0">
                <a:solidFill>
                  <a:srgbClr val="7D909E"/>
                </a:solidFill>
                <a:latin typeface="Helvetica Neue"/>
              </a:rPr>
              <a:t> </a:t>
            </a:r>
            <a:r>
              <a:rPr sz="950" b="0" dirty="0" err="1">
                <a:solidFill>
                  <a:srgbClr val="7D909E"/>
                </a:solidFill>
                <a:latin typeface="Helvetica Neue"/>
              </a:rPr>
              <a:t>en</a:t>
            </a:r>
            <a:r>
              <a:rPr sz="950" b="0" dirty="0">
                <a:solidFill>
                  <a:srgbClr val="7D909E"/>
                </a:solidFill>
                <a:latin typeface="Helvetica Neue"/>
              </a:rPr>
              <a:t> la </a:t>
            </a:r>
            <a:r>
              <a:rPr sz="950" b="0" dirty="0" err="1">
                <a:solidFill>
                  <a:srgbClr val="7D909E"/>
                </a:solidFill>
                <a:latin typeface="Helvetica Neue"/>
              </a:rPr>
              <a:t>plataforma</a:t>
            </a:r>
            <a:r>
              <a:rPr sz="950" b="0" dirty="0">
                <a:solidFill>
                  <a:srgbClr val="7D909E"/>
                </a:solidFill>
                <a:latin typeface="Helvetica Neue"/>
              </a:rPr>
              <a:t>, con derecho a </a:t>
            </a:r>
            <a:r>
              <a:rPr sz="950" b="0" dirty="0" err="1">
                <a:solidFill>
                  <a:srgbClr val="7D909E"/>
                </a:solidFill>
                <a:latin typeface="Helvetica Neue"/>
              </a:rPr>
              <a:t>analizarlos</a:t>
            </a:r>
            <a:r>
              <a:rPr sz="950" b="0" dirty="0">
                <a:solidFill>
                  <a:srgbClr val="7D909E"/>
                </a:solidFill>
                <a:latin typeface="Helvetica Neue"/>
              </a:rPr>
              <a:t> y </a:t>
            </a:r>
            <a:r>
              <a:rPr sz="950" b="0" dirty="0" err="1">
                <a:solidFill>
                  <a:srgbClr val="7D909E"/>
                </a:solidFill>
                <a:latin typeface="Helvetica Neue"/>
              </a:rPr>
              <a:t>publicarlos</a:t>
            </a:r>
            <a:r>
              <a:rPr sz="950" b="0" dirty="0">
                <a:solidFill>
                  <a:srgbClr val="7D909E"/>
                </a:solidFill>
                <a:latin typeface="Helvetica Neue"/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78443" y="4218051"/>
            <a:ext cx="16459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F4555E"/>
                </a:solidFill>
                <a:latin typeface="Menlo"/>
              </a:rPr>
              <a:t>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9611" y="4204335"/>
            <a:ext cx="2643987" cy="6822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dirty="0">
                <a:solidFill>
                  <a:srgbClr val="DCE6EC"/>
                </a:solidFill>
                <a:latin typeface="Helvetica Neue"/>
              </a:rPr>
              <a:t>Todos </a:t>
            </a:r>
            <a:r>
              <a:rPr sz="950" b="1" dirty="0" err="1">
                <a:solidFill>
                  <a:srgbClr val="DCE6EC"/>
                </a:solidFill>
                <a:latin typeface="Helvetica Neue"/>
              </a:rPr>
              <a:t>los</a:t>
            </a:r>
            <a:r>
              <a:rPr sz="950" b="1" dirty="0">
                <a:solidFill>
                  <a:srgbClr val="DCE6EC"/>
                </a:solidFill>
                <a:latin typeface="Helvetica Neue"/>
              </a:rPr>
              <a:t> derechos </a:t>
            </a:r>
            <a:r>
              <a:rPr sz="950" b="1" dirty="0" err="1">
                <a:solidFill>
                  <a:srgbClr val="DCE6EC"/>
                </a:solidFill>
                <a:latin typeface="Helvetica Neue"/>
              </a:rPr>
              <a:t>comerciales</a:t>
            </a:r>
            <a:r>
              <a:rPr sz="950" b="0" dirty="0">
                <a:solidFill>
                  <a:srgbClr val="7D909E"/>
                </a:solidFill>
                <a:latin typeface="Helvetica Neue"/>
              </a:rPr>
              <a:t>, </a:t>
            </a:r>
            <a:r>
              <a:rPr sz="950" b="0" dirty="0" err="1">
                <a:solidFill>
                  <a:srgbClr val="7D909E"/>
                </a:solidFill>
                <a:latin typeface="Helvetica Neue"/>
              </a:rPr>
              <a:t>incluida</a:t>
            </a:r>
            <a:r>
              <a:rPr sz="950" b="0" dirty="0">
                <a:solidFill>
                  <a:srgbClr val="7D909E"/>
                </a:solidFill>
                <a:latin typeface="Helvetica Neue"/>
              </a:rPr>
              <a:t> la </a:t>
            </a:r>
            <a:r>
              <a:rPr sz="950" b="0" dirty="0" err="1">
                <a:solidFill>
                  <a:srgbClr val="7D909E"/>
                </a:solidFill>
                <a:latin typeface="Helvetica Neue"/>
              </a:rPr>
              <a:t>licencia</a:t>
            </a:r>
            <a:r>
              <a:rPr sz="950" b="0" dirty="0">
                <a:solidFill>
                  <a:srgbClr val="7D909E"/>
                </a:solidFill>
                <a:latin typeface="Helvetica Neue"/>
              </a:rPr>
              <a:t> </a:t>
            </a:r>
            <a:r>
              <a:rPr sz="950" b="0" dirty="0" err="1">
                <a:solidFill>
                  <a:srgbClr val="7D909E"/>
                </a:solidFill>
                <a:latin typeface="Helvetica Neue"/>
              </a:rPr>
              <a:t>futura</a:t>
            </a:r>
            <a:r>
              <a:rPr sz="950" b="0" dirty="0">
                <a:solidFill>
                  <a:srgbClr val="7D909E"/>
                </a:solidFill>
                <a:latin typeface="Helvetica Neue"/>
              </a:rPr>
              <a:t> a </a:t>
            </a:r>
            <a:r>
              <a:rPr sz="950" b="0" dirty="0" err="1">
                <a:solidFill>
                  <a:srgbClr val="7D909E"/>
                </a:solidFill>
                <a:latin typeface="Helvetica Neue"/>
              </a:rPr>
              <a:t>otras</a:t>
            </a:r>
            <a:r>
              <a:rPr sz="950" b="0" dirty="0">
                <a:solidFill>
                  <a:srgbClr val="7D909E"/>
                </a:solidFill>
                <a:latin typeface="Helvetica Neue"/>
              </a:rPr>
              <a:t> </a:t>
            </a:r>
            <a:r>
              <a:rPr sz="950" b="0" dirty="0" err="1">
                <a:solidFill>
                  <a:srgbClr val="7D909E"/>
                </a:solidFill>
                <a:latin typeface="Helvetica Neue"/>
              </a:rPr>
              <a:t>instituciones</a:t>
            </a:r>
            <a:r>
              <a:rPr sz="950" b="0" dirty="0">
                <a:solidFill>
                  <a:srgbClr val="7D909E"/>
                </a:solidFill>
                <a:latin typeface="Helvetica Neue"/>
              </a:rPr>
              <a:t>, sin </a:t>
            </a:r>
            <a:r>
              <a:rPr sz="950" b="0" dirty="0" err="1">
                <a:solidFill>
                  <a:srgbClr val="7D909E"/>
                </a:solidFill>
                <a:latin typeface="Helvetica Neue"/>
              </a:rPr>
              <a:t>afectación</a:t>
            </a:r>
            <a:r>
              <a:rPr sz="950" b="0" dirty="0">
                <a:solidFill>
                  <a:srgbClr val="7D909E"/>
                </a:solidFill>
                <a:latin typeface="Helvetica Neue"/>
              </a:rPr>
              <a:t> </a:t>
            </a:r>
            <a:r>
              <a:rPr sz="950" b="0" dirty="0" err="1">
                <a:solidFill>
                  <a:srgbClr val="7D909E"/>
                </a:solidFill>
                <a:latin typeface="Helvetica Neue"/>
              </a:rPr>
              <a:t>por</a:t>
            </a:r>
            <a:r>
              <a:rPr sz="950" b="0" dirty="0">
                <a:solidFill>
                  <a:srgbClr val="7D909E"/>
                </a:solidFill>
                <a:latin typeface="Helvetica Neue"/>
              </a:rPr>
              <a:t> </a:t>
            </a:r>
            <a:r>
              <a:rPr sz="950" b="0" dirty="0" err="1">
                <a:solidFill>
                  <a:srgbClr val="7D909E"/>
                </a:solidFill>
                <a:latin typeface="Helvetica Neue"/>
              </a:rPr>
              <a:t>este</a:t>
            </a:r>
            <a:r>
              <a:rPr sz="950" b="0" dirty="0">
                <a:solidFill>
                  <a:srgbClr val="7D909E"/>
                </a:solidFill>
                <a:latin typeface="Helvetica Neue"/>
              </a:rPr>
              <a:t> </a:t>
            </a:r>
            <a:r>
              <a:rPr sz="950" b="0" dirty="0" err="1">
                <a:solidFill>
                  <a:srgbClr val="7D909E"/>
                </a:solidFill>
                <a:latin typeface="Helvetica Neue"/>
              </a:rPr>
              <a:t>despliegue</a:t>
            </a:r>
            <a:r>
              <a:rPr sz="950" b="0" dirty="0">
                <a:solidFill>
                  <a:srgbClr val="7D909E"/>
                </a:solidFill>
                <a:latin typeface="Helvetica Neue"/>
              </a:rPr>
              <a:t>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01768" y="5394960"/>
            <a:ext cx="6622999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00" b="0" spc="30">
                <a:solidFill>
                  <a:srgbClr val="4E606E"/>
                </a:solidFill>
                <a:latin typeface="Menlo"/>
              </a:rPr>
              <a:t>Resumen de términos para discusión, a formalizarse en convenio escrito. Derechos de autor sobre software conforme a la Decisión Andina 351 de 1993 y la Ley 23 de 1982, con registro del soporte lógico ante la DNDA. Tratamiento de datos conforme a la Ley 1581 de 2012 y su Decreto 1377 de 2013, con autorización previa, expresa e informada de los participantes y aval del Comité de Ética en Investigación. Revisión por asesoría jurídica de ambas partes antes de la firma.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1349</Words>
  <Application>Microsoft Macintosh PowerPoint</Application>
  <PresentationFormat>Widescreen</PresentationFormat>
  <Paragraphs>107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Helvetica Neue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sebastian rivera</cp:lastModifiedBy>
  <cp:revision>3</cp:revision>
  <dcterms:created xsi:type="dcterms:W3CDTF">2013-01-27T09:14:16Z</dcterms:created>
  <dcterms:modified xsi:type="dcterms:W3CDTF">2026-08-18T02:13:06Z</dcterms:modified>
  <cp:category/>
</cp:coreProperties>
</file>